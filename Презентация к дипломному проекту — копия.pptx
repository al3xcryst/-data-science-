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35"/>
  </p:notesMasterIdLst>
  <p:sldIdLst>
    <p:sldId id="263" r:id="rId2"/>
    <p:sldId id="265" r:id="rId3"/>
    <p:sldId id="273" r:id="rId4"/>
    <p:sldId id="327" r:id="rId5"/>
    <p:sldId id="283" r:id="rId6"/>
    <p:sldId id="347" r:id="rId7"/>
    <p:sldId id="339" r:id="rId8"/>
    <p:sldId id="348" r:id="rId9"/>
    <p:sldId id="340" r:id="rId10"/>
    <p:sldId id="328" r:id="rId11"/>
    <p:sldId id="282" r:id="rId12"/>
    <p:sldId id="329" r:id="rId13"/>
    <p:sldId id="342" r:id="rId14"/>
    <p:sldId id="330" r:id="rId15"/>
    <p:sldId id="331" r:id="rId16"/>
    <p:sldId id="332" r:id="rId17"/>
    <p:sldId id="333" r:id="rId18"/>
    <p:sldId id="335" r:id="rId19"/>
    <p:sldId id="336" r:id="rId20"/>
    <p:sldId id="349" r:id="rId21"/>
    <p:sldId id="351" r:id="rId22"/>
    <p:sldId id="350" r:id="rId23"/>
    <p:sldId id="352" r:id="rId24"/>
    <p:sldId id="356" r:id="rId25"/>
    <p:sldId id="357" r:id="rId26"/>
    <p:sldId id="358" r:id="rId27"/>
    <p:sldId id="337" r:id="rId28"/>
    <p:sldId id="341" r:id="rId29"/>
    <p:sldId id="338" r:id="rId30"/>
    <p:sldId id="343" r:id="rId31"/>
    <p:sldId id="344" r:id="rId32"/>
    <p:sldId id="345" r:id="rId33"/>
    <p:sldId id="346" r:id="rId34"/>
  </p:sldIdLst>
  <p:sldSz cx="18288000" cy="10287000"/>
  <p:notesSz cx="6858000" cy="9144000"/>
  <p:embeddedFontLst>
    <p:embeddedFont>
      <p:font typeface="Proxima Nova Semibold" panose="020B0604020202020204" charset="0"/>
      <p:regular r:id="rId36"/>
      <p:bold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Proxima Nova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2479AA-1188-46D5-84F2-6A872CF9E262}">
  <a:tblStyle styleId="{F12479AA-1188-46D5-84F2-6A872CF9E262}" styleName="Table_0">
    <a:wholeTbl>
      <a:tcTxStyle b="off" i="off">
        <a:font>
          <a:latin typeface="Circe"/>
          <a:ea typeface="Circe"/>
          <a:cs typeface="Circe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2CD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FFF1E8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irce"/>
          <a:ea typeface="Circe"/>
          <a:cs typeface="Circe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78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872e1aa851_6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872e1aa851_6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86f911c6f3_2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86f911c6f3_2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09c64a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09c64a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86f911c6f3_2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86f911c6f3_2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340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a603d3ff9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a603d3ff9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86f911c6f3_2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86f911c6f3_2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55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86f911c6f3_2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86f911c6f3_2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293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86f911c6f3_2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86f911c6f3_2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101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86f911c6f3_2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86f911c6f3_2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332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09c64a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09c64a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9548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9b1f32a3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9b1f32a3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9b1f32a3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9b1f32a3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723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9b1f32a3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9b1f32a3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879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9b1f32a3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9b1f32a3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461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09c64a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09c64a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548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5068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441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196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09c64a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09c64a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160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007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058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3878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067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8695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052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44208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09c64a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09c64a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9540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960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09c64a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09c64a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708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860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5794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9239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9c61cce14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9c61cce14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73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2">
  <p:cSld name="CUSTOM_3_1_1_3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1" name="Google Shape;11;p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6073">
          <p15:clr>
            <a:srgbClr val="0000FF"/>
          </p15:clr>
        </p15:guide>
        <p15:guide id="3" pos="348">
          <p15:clr>
            <a:srgbClr val="0000FF"/>
          </p15:clr>
        </p15:guide>
        <p15:guide id="4" pos="11172">
          <p15:clr>
            <a:srgbClr val="0000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1">
  <p:cSld name="CUSTOM_3_1_1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7" name="Google Shape;17;p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ертикальный список">
  <p:cSld name="CUSTOM_3_1_1_2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3" name="Google Shape;23;p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551850" y="2217600"/>
            <a:ext cx="12862800" cy="7178400"/>
          </a:xfrm>
          <a:prstGeom prst="rect">
            <a:avLst/>
          </a:prstGeom>
          <a:noFill/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88100" cy="148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0" name="Google Shape;30;p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с картинкой">
  <p:cSld name="CUSTOM_3_1_1_2_2_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9175531" y="2983531"/>
            <a:ext cx="8521200" cy="5144400"/>
          </a:xfrm>
          <a:prstGeom prst="roundRect">
            <a:avLst>
              <a:gd name="adj" fmla="val 6404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7" name="Google Shape;37;p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88100" cy="14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>
            <a:endParaRPr/>
          </a:p>
        </p:txBody>
      </p:sp>
      <p:grpSp>
        <p:nvGrpSpPr>
          <p:cNvPr id="42" name="Google Shape;42;p5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43" name="Google Shape;43;p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5"/>
          <p:cNvSpPr txBox="1"/>
          <p:nvPr/>
        </p:nvSpPr>
        <p:spPr>
          <a:xfrm>
            <a:off x="10556650" y="5189400"/>
            <a:ext cx="57165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фотографии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пунктирную рамку)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551850" y="9396000"/>
            <a:ext cx="7146000" cy="244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18773050" y="733450"/>
            <a:ext cx="4575600" cy="8410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изображение на слайд, затем </a:t>
            </a:r>
            <a:br>
              <a:rPr lang="ru"/>
            </a:br>
            <a:r>
              <a:rPr lang="ru"/>
              <a:t>с помощью инструмента </a:t>
            </a:r>
            <a:r>
              <a:rPr lang="ru" b="1"/>
              <a:t>Обрезка</a:t>
            </a:r>
            <a:r>
              <a:rPr lang="ru"/>
              <a:t> выберете </a:t>
            </a:r>
            <a:br>
              <a:rPr lang="ru"/>
            </a:br>
            <a:r>
              <a:rPr lang="ru"/>
              <a:t>обрезку с помощью прямоугольника </a:t>
            </a:r>
            <a:br>
              <a:rPr lang="ru"/>
            </a:br>
            <a:r>
              <a:rPr lang="ru"/>
              <a:t>с закруглёнными углами.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Добавьте чёрную обводку в 8 пикселей. Поместите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/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</a:t>
            </a:r>
            <a:br>
              <a:rPr lang="ru"/>
            </a:br>
            <a:r>
              <a:rPr lang="ru"/>
              <a:t>и выровняйте иллюстрацию по заданным направляющим. Изображение должно </a:t>
            </a:r>
            <a:br>
              <a:rPr lang="ru"/>
            </a:br>
            <a:r>
              <a:rPr lang="ru"/>
              <a:t>перекрывать собой пунктирную линию.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75" y="1929188"/>
            <a:ext cx="4104925" cy="16021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>
            <a:spLocks noGrp="1"/>
          </p:cNvSpPr>
          <p:nvPr>
            <p:ph type="body" idx="2"/>
          </p:nvPr>
        </p:nvSpPr>
        <p:spPr>
          <a:xfrm>
            <a:off x="551850" y="2217600"/>
            <a:ext cx="7146000" cy="7178400"/>
          </a:xfrm>
          <a:prstGeom prst="rect">
            <a:avLst/>
          </a:prstGeom>
          <a:noFill/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9pPr>
          </a:lstStyle>
          <a:p>
            <a:endParaRPr/>
          </a:p>
        </p:txBody>
      </p:sp>
      <p:pic>
        <p:nvPicPr>
          <p:cNvPr id="52" name="Google Shape;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5" y="5583854"/>
            <a:ext cx="4104924" cy="326990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Цитата с фотографией">
  <p:cSld name="CUSTOM_3_1_1_2_2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1092595" y="2249131"/>
            <a:ext cx="6120000" cy="61200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6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57" name="Google Shape;57;p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61;p6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62" name="Google Shape;62;p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6"/>
          <p:cNvSpPr/>
          <p:nvPr/>
        </p:nvSpPr>
        <p:spPr>
          <a:xfrm>
            <a:off x="7706731" y="2717600"/>
            <a:ext cx="686874" cy="479366"/>
          </a:xfrm>
          <a:custGeom>
            <a:avLst/>
            <a:gdLst/>
            <a:ahLst/>
            <a:cxnLst/>
            <a:rect l="l" t="t" r="r" b="b"/>
            <a:pathLst>
              <a:path w="273928" h="191173" extrusionOk="0">
                <a:moveTo>
                  <a:pt x="79295" y="0"/>
                </a:moveTo>
                <a:lnTo>
                  <a:pt x="0" y="105246"/>
                </a:lnTo>
                <a:lnTo>
                  <a:pt x="0" y="191172"/>
                </a:lnTo>
                <a:lnTo>
                  <a:pt x="93712" y="191172"/>
                </a:lnTo>
                <a:lnTo>
                  <a:pt x="93712" y="105246"/>
                </a:lnTo>
                <a:lnTo>
                  <a:pt x="122547" y="0"/>
                </a:lnTo>
                <a:close/>
                <a:moveTo>
                  <a:pt x="230676" y="0"/>
                </a:moveTo>
                <a:lnTo>
                  <a:pt x="151381" y="105246"/>
                </a:lnTo>
                <a:lnTo>
                  <a:pt x="151381" y="191172"/>
                </a:lnTo>
                <a:lnTo>
                  <a:pt x="245093" y="191172"/>
                </a:lnTo>
                <a:lnTo>
                  <a:pt x="245093" y="105246"/>
                </a:lnTo>
                <a:lnTo>
                  <a:pt x="273928" y="0"/>
                </a:lnTo>
                <a:close/>
              </a:path>
            </a:pathLst>
          </a:custGeom>
          <a:solidFill>
            <a:srgbClr val="4BD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1497266" y="4946400"/>
            <a:ext cx="53196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пунктирный радиус)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1"/>
          </p:nvPr>
        </p:nvSpPr>
        <p:spPr>
          <a:xfrm>
            <a:off x="7706725" y="6667200"/>
            <a:ext cx="7137000" cy="2232000"/>
          </a:xfrm>
          <a:prstGeom prst="rect">
            <a:avLst/>
          </a:prstGeom>
        </p:spPr>
        <p:txBody>
          <a:bodyPr spcFirstLastPara="1" wrap="square" lIns="0" tIns="19800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706725" y="3452400"/>
            <a:ext cx="8574900" cy="2970000"/>
          </a:xfrm>
          <a:prstGeom prst="rect">
            <a:avLst/>
          </a:prstGeom>
        </p:spPr>
        <p:txBody>
          <a:bodyPr spcFirstLastPara="1" wrap="square" lIns="0" tIns="12600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8773050" y="733450"/>
            <a:ext cx="4575600" cy="8662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 Проверьте выравнивание используя направляющие.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71" name="Google Shape;7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4" y="5338200"/>
            <a:ext cx="3821427" cy="38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Цитата">
  <p:cSld name="CUSTOM_3_1_1_2_2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76" name="Google Shape;76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81" name="Google Shape;81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2862800" cy="4456800"/>
          </a:xfrm>
          <a:prstGeom prst="rect">
            <a:avLst/>
          </a:prstGeom>
        </p:spPr>
        <p:txBody>
          <a:bodyPr spcFirstLastPara="1" wrap="square" lIns="0" tIns="36000" rIns="91425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9600"/>
              <a:buNone/>
              <a:defRPr sz="9600" b="1">
                <a:solidFill>
                  <a:srgbClr val="4BD0A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87" name="Google Shape;87;p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7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Описание спикера">
  <p:cSld name="CUSTOM_3_1_1_2_2_1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583390" y="1484566"/>
            <a:ext cx="5666400" cy="56664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735949" y="4075575"/>
            <a:ext cx="53487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пунктирный радиус)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8"/>
          <p:cNvSpPr txBox="1">
            <a:spLocks noGrp="1"/>
          </p:cNvSpPr>
          <p:nvPr>
            <p:ph type="subTitle" idx="1"/>
          </p:nvPr>
        </p:nvSpPr>
        <p:spPr>
          <a:xfrm>
            <a:off x="7697850" y="3691325"/>
            <a:ext cx="8575200" cy="1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7702550" y="2210675"/>
            <a:ext cx="8570400" cy="1486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7702550" y="4946834"/>
            <a:ext cx="71328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latin typeface="Proxima Nova"/>
                <a:ea typeface="Proxima Nova"/>
                <a:cs typeface="Proxima Nova"/>
                <a:sym typeface="Proxima Nova"/>
              </a:rPr>
              <a:t>Аккаунты в соц.сетях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8" name="Google Shape;98;p8"/>
          <p:cNvGrpSpPr/>
          <p:nvPr/>
        </p:nvGrpSpPr>
        <p:grpSpPr>
          <a:xfrm>
            <a:off x="7702559" y="5935323"/>
            <a:ext cx="484202" cy="484202"/>
            <a:chOff x="1190625" y="238125"/>
            <a:chExt cx="4905800" cy="4905800"/>
          </a:xfrm>
        </p:grpSpPr>
        <p:sp>
          <p:nvSpPr>
            <p:cNvPr id="99" name="Google Shape;99;p8"/>
            <p:cNvSpPr/>
            <p:nvPr/>
          </p:nvSpPr>
          <p:spPr>
            <a:xfrm>
              <a:off x="1190625" y="238125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136650" y="1629200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8"/>
          <p:cNvGrpSpPr/>
          <p:nvPr/>
        </p:nvGrpSpPr>
        <p:grpSpPr>
          <a:xfrm>
            <a:off x="7697508" y="6668934"/>
            <a:ext cx="503580" cy="503580"/>
            <a:chOff x="1190625" y="238125"/>
            <a:chExt cx="5186200" cy="5186200"/>
          </a:xfrm>
        </p:grpSpPr>
        <p:sp>
          <p:nvSpPr>
            <p:cNvPr id="102" name="Google Shape;102;p8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2726600" y="1774100"/>
              <a:ext cx="2190150" cy="2190150"/>
            </a:xfrm>
            <a:custGeom>
              <a:avLst/>
              <a:gdLst/>
              <a:ahLst/>
              <a:cxnLst/>
              <a:rect l="l" t="t" r="r" b="b"/>
              <a:pathLst>
                <a:path w="87606" h="87606" extrusionOk="0">
                  <a:moveTo>
                    <a:pt x="66580" y="15186"/>
                  </a:moveTo>
                  <a:cubicBezTo>
                    <a:pt x="68216" y="15186"/>
                    <a:pt x="69617" y="15887"/>
                    <a:pt x="70552" y="16821"/>
                  </a:cubicBezTo>
                  <a:cubicBezTo>
                    <a:pt x="71486" y="17755"/>
                    <a:pt x="72187" y="19157"/>
                    <a:pt x="72187" y="20792"/>
                  </a:cubicBezTo>
                  <a:cubicBezTo>
                    <a:pt x="72187" y="22194"/>
                    <a:pt x="71486" y="23596"/>
                    <a:pt x="70552" y="24530"/>
                  </a:cubicBezTo>
                  <a:cubicBezTo>
                    <a:pt x="69617" y="25698"/>
                    <a:pt x="68216" y="26166"/>
                    <a:pt x="66580" y="26166"/>
                  </a:cubicBezTo>
                  <a:cubicBezTo>
                    <a:pt x="65179" y="26166"/>
                    <a:pt x="63777" y="25698"/>
                    <a:pt x="62843" y="24530"/>
                  </a:cubicBezTo>
                  <a:cubicBezTo>
                    <a:pt x="61675" y="23596"/>
                    <a:pt x="61207" y="22194"/>
                    <a:pt x="61207" y="20792"/>
                  </a:cubicBezTo>
                  <a:cubicBezTo>
                    <a:pt x="61207" y="19157"/>
                    <a:pt x="61675" y="17755"/>
                    <a:pt x="62843" y="16821"/>
                  </a:cubicBezTo>
                  <a:cubicBezTo>
                    <a:pt x="63777" y="15887"/>
                    <a:pt x="65179" y="15186"/>
                    <a:pt x="66580" y="15186"/>
                  </a:cubicBezTo>
                  <a:close/>
                  <a:moveTo>
                    <a:pt x="43686" y="30604"/>
                  </a:moveTo>
                  <a:cubicBezTo>
                    <a:pt x="40182" y="30604"/>
                    <a:pt x="36912" y="32006"/>
                    <a:pt x="34342" y="34342"/>
                  </a:cubicBezTo>
                  <a:cubicBezTo>
                    <a:pt x="32006" y="36912"/>
                    <a:pt x="30604" y="40182"/>
                    <a:pt x="30604" y="43686"/>
                  </a:cubicBezTo>
                  <a:cubicBezTo>
                    <a:pt x="30604" y="47191"/>
                    <a:pt x="32006" y="50461"/>
                    <a:pt x="34342" y="53031"/>
                  </a:cubicBezTo>
                  <a:cubicBezTo>
                    <a:pt x="36912" y="55367"/>
                    <a:pt x="40182" y="56769"/>
                    <a:pt x="43686" y="56769"/>
                  </a:cubicBezTo>
                  <a:cubicBezTo>
                    <a:pt x="47191" y="56769"/>
                    <a:pt x="50461" y="55367"/>
                    <a:pt x="53031" y="53031"/>
                  </a:cubicBezTo>
                  <a:cubicBezTo>
                    <a:pt x="55367" y="50461"/>
                    <a:pt x="56769" y="47191"/>
                    <a:pt x="56769" y="43686"/>
                  </a:cubicBezTo>
                  <a:cubicBezTo>
                    <a:pt x="56769" y="40182"/>
                    <a:pt x="55367" y="36912"/>
                    <a:pt x="53031" y="34342"/>
                  </a:cubicBezTo>
                  <a:cubicBezTo>
                    <a:pt x="50461" y="32006"/>
                    <a:pt x="47191" y="30604"/>
                    <a:pt x="43686" y="30604"/>
                  </a:cubicBezTo>
                  <a:close/>
                  <a:moveTo>
                    <a:pt x="43686" y="21727"/>
                  </a:moveTo>
                  <a:cubicBezTo>
                    <a:pt x="49527" y="21727"/>
                    <a:pt x="55133" y="24063"/>
                    <a:pt x="59105" y="28268"/>
                  </a:cubicBezTo>
                  <a:cubicBezTo>
                    <a:pt x="63310" y="32239"/>
                    <a:pt x="65646" y="37846"/>
                    <a:pt x="65646" y="43686"/>
                  </a:cubicBezTo>
                  <a:cubicBezTo>
                    <a:pt x="65646" y="49527"/>
                    <a:pt x="63310" y="55133"/>
                    <a:pt x="59105" y="59105"/>
                  </a:cubicBezTo>
                  <a:cubicBezTo>
                    <a:pt x="55133" y="63310"/>
                    <a:pt x="49527" y="65646"/>
                    <a:pt x="43686" y="65646"/>
                  </a:cubicBezTo>
                  <a:cubicBezTo>
                    <a:pt x="37846" y="65646"/>
                    <a:pt x="32239" y="63310"/>
                    <a:pt x="28268" y="59105"/>
                  </a:cubicBezTo>
                  <a:cubicBezTo>
                    <a:pt x="24063" y="55133"/>
                    <a:pt x="21727" y="49527"/>
                    <a:pt x="21727" y="43686"/>
                  </a:cubicBezTo>
                  <a:cubicBezTo>
                    <a:pt x="21727" y="37846"/>
                    <a:pt x="24063" y="32239"/>
                    <a:pt x="28268" y="28268"/>
                  </a:cubicBezTo>
                  <a:cubicBezTo>
                    <a:pt x="32239" y="24063"/>
                    <a:pt x="37846" y="21727"/>
                    <a:pt x="43686" y="21727"/>
                  </a:cubicBezTo>
                  <a:close/>
                  <a:moveTo>
                    <a:pt x="43686" y="1"/>
                  </a:moveTo>
                  <a:cubicBezTo>
                    <a:pt x="31772" y="1"/>
                    <a:pt x="30371" y="1"/>
                    <a:pt x="25698" y="235"/>
                  </a:cubicBezTo>
                  <a:cubicBezTo>
                    <a:pt x="21026" y="468"/>
                    <a:pt x="17755" y="1169"/>
                    <a:pt x="14952" y="2103"/>
                  </a:cubicBezTo>
                  <a:cubicBezTo>
                    <a:pt x="12149" y="3272"/>
                    <a:pt x="9345" y="4907"/>
                    <a:pt x="7243" y="7243"/>
                  </a:cubicBezTo>
                  <a:cubicBezTo>
                    <a:pt x="4907" y="9345"/>
                    <a:pt x="3272" y="12149"/>
                    <a:pt x="2103" y="14952"/>
                  </a:cubicBezTo>
                  <a:cubicBezTo>
                    <a:pt x="1169" y="17755"/>
                    <a:pt x="468" y="21026"/>
                    <a:pt x="235" y="25698"/>
                  </a:cubicBezTo>
                  <a:cubicBezTo>
                    <a:pt x="1" y="30371"/>
                    <a:pt x="1" y="31772"/>
                    <a:pt x="1" y="43686"/>
                  </a:cubicBezTo>
                  <a:cubicBezTo>
                    <a:pt x="1" y="55601"/>
                    <a:pt x="1" y="57002"/>
                    <a:pt x="235" y="61675"/>
                  </a:cubicBezTo>
                  <a:cubicBezTo>
                    <a:pt x="468" y="66347"/>
                    <a:pt x="1169" y="69617"/>
                    <a:pt x="2103" y="72421"/>
                  </a:cubicBezTo>
                  <a:cubicBezTo>
                    <a:pt x="3272" y="75224"/>
                    <a:pt x="4907" y="78027"/>
                    <a:pt x="7243" y="80130"/>
                  </a:cubicBezTo>
                  <a:cubicBezTo>
                    <a:pt x="9345" y="82466"/>
                    <a:pt x="12149" y="84101"/>
                    <a:pt x="14952" y="85269"/>
                  </a:cubicBezTo>
                  <a:cubicBezTo>
                    <a:pt x="17755" y="86204"/>
                    <a:pt x="21026" y="86905"/>
                    <a:pt x="25698" y="87138"/>
                  </a:cubicBezTo>
                  <a:cubicBezTo>
                    <a:pt x="30371" y="87372"/>
                    <a:pt x="31772" y="87605"/>
                    <a:pt x="43686" y="87605"/>
                  </a:cubicBezTo>
                  <a:cubicBezTo>
                    <a:pt x="55601" y="87605"/>
                    <a:pt x="57002" y="87372"/>
                    <a:pt x="61675" y="87138"/>
                  </a:cubicBezTo>
                  <a:cubicBezTo>
                    <a:pt x="66347" y="86905"/>
                    <a:pt x="69617" y="86204"/>
                    <a:pt x="72421" y="85269"/>
                  </a:cubicBezTo>
                  <a:cubicBezTo>
                    <a:pt x="75224" y="84101"/>
                    <a:pt x="78027" y="82466"/>
                    <a:pt x="80130" y="80130"/>
                  </a:cubicBezTo>
                  <a:cubicBezTo>
                    <a:pt x="82466" y="78027"/>
                    <a:pt x="84101" y="75224"/>
                    <a:pt x="85269" y="72421"/>
                  </a:cubicBezTo>
                  <a:cubicBezTo>
                    <a:pt x="86204" y="69617"/>
                    <a:pt x="86905" y="66347"/>
                    <a:pt x="87138" y="61675"/>
                  </a:cubicBezTo>
                  <a:cubicBezTo>
                    <a:pt x="87372" y="57002"/>
                    <a:pt x="87605" y="55601"/>
                    <a:pt x="87605" y="43686"/>
                  </a:cubicBezTo>
                  <a:cubicBezTo>
                    <a:pt x="87605" y="31772"/>
                    <a:pt x="87372" y="30371"/>
                    <a:pt x="87138" y="25698"/>
                  </a:cubicBezTo>
                  <a:cubicBezTo>
                    <a:pt x="86905" y="21026"/>
                    <a:pt x="86204" y="17755"/>
                    <a:pt x="85269" y="14952"/>
                  </a:cubicBezTo>
                  <a:cubicBezTo>
                    <a:pt x="84101" y="12149"/>
                    <a:pt x="82466" y="9345"/>
                    <a:pt x="80130" y="7243"/>
                  </a:cubicBezTo>
                  <a:cubicBezTo>
                    <a:pt x="77794" y="4907"/>
                    <a:pt x="75224" y="3272"/>
                    <a:pt x="72421" y="2103"/>
                  </a:cubicBezTo>
                  <a:cubicBezTo>
                    <a:pt x="69617" y="1169"/>
                    <a:pt x="66347" y="468"/>
                    <a:pt x="61675" y="235"/>
                  </a:cubicBezTo>
                  <a:cubicBezTo>
                    <a:pt x="57002" y="1"/>
                    <a:pt x="55601" y="1"/>
                    <a:pt x="436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" name="Google Shape;104;p8"/>
          <p:cNvGrpSpPr/>
          <p:nvPr/>
        </p:nvGrpSpPr>
        <p:grpSpPr>
          <a:xfrm>
            <a:off x="7697704" y="7415521"/>
            <a:ext cx="493726" cy="493726"/>
            <a:chOff x="1190625" y="238125"/>
            <a:chExt cx="5186200" cy="5186200"/>
          </a:xfrm>
        </p:grpSpPr>
        <p:sp>
          <p:nvSpPr>
            <p:cNvPr id="105" name="Google Shape;105;p8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2498850" y="1698200"/>
              <a:ext cx="2493825" cy="2264050"/>
            </a:xfrm>
            <a:custGeom>
              <a:avLst/>
              <a:gdLst/>
              <a:ahLst/>
              <a:cxnLst/>
              <a:rect l="l" t="t" r="r" b="b"/>
              <a:pathLst>
                <a:path w="99753" h="90562" extrusionOk="0">
                  <a:moveTo>
                    <a:pt x="91810" y="7943"/>
                  </a:moveTo>
                  <a:cubicBezTo>
                    <a:pt x="91810" y="8176"/>
                    <a:pt x="91810" y="8176"/>
                    <a:pt x="91810" y="8644"/>
                  </a:cubicBezTo>
                  <a:lnTo>
                    <a:pt x="77559" y="81998"/>
                  </a:lnTo>
                  <a:cubicBezTo>
                    <a:pt x="77559" y="82231"/>
                    <a:pt x="77326" y="82465"/>
                    <a:pt x="77092" y="82699"/>
                  </a:cubicBezTo>
                  <a:cubicBezTo>
                    <a:pt x="76995" y="82795"/>
                    <a:pt x="76899" y="82852"/>
                    <a:pt x="76735" y="82852"/>
                  </a:cubicBezTo>
                  <a:cubicBezTo>
                    <a:pt x="76505" y="82852"/>
                    <a:pt x="76141" y="82739"/>
                    <a:pt x="75457" y="82465"/>
                  </a:cubicBezTo>
                  <a:lnTo>
                    <a:pt x="52796" y="64944"/>
                  </a:lnTo>
                  <a:lnTo>
                    <a:pt x="39247" y="77559"/>
                  </a:lnTo>
                  <a:lnTo>
                    <a:pt x="42050" y="59104"/>
                  </a:lnTo>
                  <a:lnTo>
                    <a:pt x="78961" y="24062"/>
                  </a:lnTo>
                  <a:cubicBezTo>
                    <a:pt x="80363" y="22660"/>
                    <a:pt x="79895" y="22427"/>
                    <a:pt x="79895" y="22427"/>
                  </a:cubicBezTo>
                  <a:cubicBezTo>
                    <a:pt x="79895" y="21679"/>
                    <a:pt x="79522" y="21455"/>
                    <a:pt x="79073" y="21455"/>
                  </a:cubicBezTo>
                  <a:cubicBezTo>
                    <a:pt x="78400" y="21455"/>
                    <a:pt x="77559" y="21960"/>
                    <a:pt x="77559" y="21960"/>
                  </a:cubicBezTo>
                  <a:lnTo>
                    <a:pt x="31071" y="51161"/>
                  </a:lnTo>
                  <a:lnTo>
                    <a:pt x="31071" y="50927"/>
                  </a:lnTo>
                  <a:lnTo>
                    <a:pt x="8877" y="43452"/>
                  </a:lnTo>
                  <a:lnTo>
                    <a:pt x="8877" y="43218"/>
                  </a:lnTo>
                  <a:lnTo>
                    <a:pt x="9111" y="43218"/>
                  </a:lnTo>
                  <a:cubicBezTo>
                    <a:pt x="9111" y="43218"/>
                    <a:pt x="28968" y="34808"/>
                    <a:pt x="49292" y="26165"/>
                  </a:cubicBezTo>
                  <a:cubicBezTo>
                    <a:pt x="59338" y="21726"/>
                    <a:pt x="69616" y="17287"/>
                    <a:pt x="77326" y="14017"/>
                  </a:cubicBezTo>
                  <a:cubicBezTo>
                    <a:pt x="85268" y="10746"/>
                    <a:pt x="91109" y="8176"/>
                    <a:pt x="91342" y="8176"/>
                  </a:cubicBezTo>
                  <a:cubicBezTo>
                    <a:pt x="91810" y="7943"/>
                    <a:pt x="91576" y="7943"/>
                    <a:pt x="91810" y="7943"/>
                  </a:cubicBezTo>
                  <a:close/>
                  <a:moveTo>
                    <a:pt x="92277" y="0"/>
                  </a:moveTo>
                  <a:cubicBezTo>
                    <a:pt x="90875" y="0"/>
                    <a:pt x="89707" y="467"/>
                    <a:pt x="88539" y="934"/>
                  </a:cubicBezTo>
                  <a:cubicBezTo>
                    <a:pt x="87605" y="1402"/>
                    <a:pt x="82232" y="3504"/>
                    <a:pt x="74522" y="6775"/>
                  </a:cubicBezTo>
                  <a:lnTo>
                    <a:pt x="46255" y="18923"/>
                  </a:lnTo>
                  <a:cubicBezTo>
                    <a:pt x="25931" y="27566"/>
                    <a:pt x="6074" y="35976"/>
                    <a:pt x="6074" y="35976"/>
                  </a:cubicBezTo>
                  <a:lnTo>
                    <a:pt x="6308" y="35976"/>
                  </a:lnTo>
                  <a:cubicBezTo>
                    <a:pt x="6308" y="35976"/>
                    <a:pt x="4906" y="36443"/>
                    <a:pt x="3504" y="37378"/>
                  </a:cubicBezTo>
                  <a:cubicBezTo>
                    <a:pt x="2803" y="38079"/>
                    <a:pt x="1869" y="38780"/>
                    <a:pt x="1402" y="39714"/>
                  </a:cubicBezTo>
                  <a:cubicBezTo>
                    <a:pt x="701" y="40649"/>
                    <a:pt x="0" y="42284"/>
                    <a:pt x="234" y="43919"/>
                  </a:cubicBezTo>
                  <a:cubicBezTo>
                    <a:pt x="701" y="46722"/>
                    <a:pt x="2336" y="48358"/>
                    <a:pt x="3738" y="49292"/>
                  </a:cubicBezTo>
                  <a:cubicBezTo>
                    <a:pt x="4906" y="50227"/>
                    <a:pt x="6308" y="50694"/>
                    <a:pt x="6308" y="50694"/>
                  </a:cubicBezTo>
                  <a:lnTo>
                    <a:pt x="24997" y="57001"/>
                  </a:lnTo>
                  <a:cubicBezTo>
                    <a:pt x="25697" y="59805"/>
                    <a:pt x="30603" y="75924"/>
                    <a:pt x="31771" y="79662"/>
                  </a:cubicBezTo>
                  <a:cubicBezTo>
                    <a:pt x="32472" y="81998"/>
                    <a:pt x="33173" y="83400"/>
                    <a:pt x="33874" y="84334"/>
                  </a:cubicBezTo>
                  <a:cubicBezTo>
                    <a:pt x="34341" y="85035"/>
                    <a:pt x="34808" y="85502"/>
                    <a:pt x="35509" y="85736"/>
                  </a:cubicBezTo>
                  <a:cubicBezTo>
                    <a:pt x="35743" y="85969"/>
                    <a:pt x="35976" y="86203"/>
                    <a:pt x="36444" y="86203"/>
                  </a:cubicBezTo>
                  <a:lnTo>
                    <a:pt x="36677" y="86203"/>
                  </a:lnTo>
                  <a:cubicBezTo>
                    <a:pt x="37285" y="86390"/>
                    <a:pt x="37864" y="86465"/>
                    <a:pt x="38402" y="86465"/>
                  </a:cubicBezTo>
                  <a:cubicBezTo>
                    <a:pt x="40555" y="86465"/>
                    <a:pt x="42050" y="85268"/>
                    <a:pt x="42050" y="85268"/>
                  </a:cubicBezTo>
                  <a:lnTo>
                    <a:pt x="42284" y="85268"/>
                  </a:lnTo>
                  <a:lnTo>
                    <a:pt x="53264" y="74989"/>
                  </a:lnTo>
                  <a:lnTo>
                    <a:pt x="71719" y="89473"/>
                  </a:lnTo>
                  <a:lnTo>
                    <a:pt x="72186" y="89707"/>
                  </a:lnTo>
                  <a:cubicBezTo>
                    <a:pt x="73559" y="90308"/>
                    <a:pt x="74963" y="90562"/>
                    <a:pt x="76294" y="90562"/>
                  </a:cubicBezTo>
                  <a:cubicBezTo>
                    <a:pt x="78589" y="90562"/>
                    <a:pt x="80668" y="89807"/>
                    <a:pt x="81998" y="88773"/>
                  </a:cubicBezTo>
                  <a:cubicBezTo>
                    <a:pt x="83867" y="86904"/>
                    <a:pt x="84801" y="84801"/>
                    <a:pt x="84801" y="84801"/>
                  </a:cubicBezTo>
                  <a:lnTo>
                    <a:pt x="84801" y="84568"/>
                  </a:lnTo>
                  <a:lnTo>
                    <a:pt x="99052" y="10279"/>
                  </a:lnTo>
                  <a:cubicBezTo>
                    <a:pt x="99519" y="8410"/>
                    <a:pt x="99752" y="6775"/>
                    <a:pt x="99285" y="5139"/>
                  </a:cubicBezTo>
                  <a:cubicBezTo>
                    <a:pt x="98818" y="3504"/>
                    <a:pt x="97650" y="1869"/>
                    <a:pt x="96248" y="1168"/>
                  </a:cubicBezTo>
                  <a:cubicBezTo>
                    <a:pt x="95080" y="234"/>
                    <a:pt x="93679" y="0"/>
                    <a:pt x="92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8"/>
          <p:cNvGrpSpPr/>
          <p:nvPr/>
        </p:nvGrpSpPr>
        <p:grpSpPr>
          <a:xfrm>
            <a:off x="7697744" y="8157032"/>
            <a:ext cx="498394" cy="498394"/>
            <a:chOff x="1190625" y="238125"/>
            <a:chExt cx="5186200" cy="5186200"/>
          </a:xfrm>
        </p:grpSpPr>
        <p:sp>
          <p:nvSpPr>
            <p:cNvPr id="108" name="Google Shape;108;p8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2942700" y="1803325"/>
              <a:ext cx="1868925" cy="1757950"/>
            </a:xfrm>
            <a:custGeom>
              <a:avLst/>
              <a:gdLst/>
              <a:ahLst/>
              <a:cxnLst/>
              <a:rect l="l" t="t" r="r" b="b"/>
              <a:pathLst>
                <a:path w="74757" h="70318" extrusionOk="0">
                  <a:moveTo>
                    <a:pt x="7943" y="0"/>
                  </a:moveTo>
                  <a:cubicBezTo>
                    <a:pt x="5841" y="0"/>
                    <a:pt x="3972" y="701"/>
                    <a:pt x="2337" y="2336"/>
                  </a:cubicBezTo>
                  <a:cubicBezTo>
                    <a:pt x="935" y="3738"/>
                    <a:pt x="1" y="5607"/>
                    <a:pt x="1" y="7709"/>
                  </a:cubicBezTo>
                  <a:cubicBezTo>
                    <a:pt x="1" y="9812"/>
                    <a:pt x="935" y="11914"/>
                    <a:pt x="2337" y="13316"/>
                  </a:cubicBezTo>
                  <a:cubicBezTo>
                    <a:pt x="3972" y="14718"/>
                    <a:pt x="5841" y="15652"/>
                    <a:pt x="7943" y="15652"/>
                  </a:cubicBezTo>
                  <a:cubicBezTo>
                    <a:pt x="10046" y="15652"/>
                    <a:pt x="11915" y="14718"/>
                    <a:pt x="13550" y="13316"/>
                  </a:cubicBezTo>
                  <a:cubicBezTo>
                    <a:pt x="14952" y="11914"/>
                    <a:pt x="15653" y="9812"/>
                    <a:pt x="15653" y="7709"/>
                  </a:cubicBezTo>
                  <a:cubicBezTo>
                    <a:pt x="15653" y="5840"/>
                    <a:pt x="14952" y="3738"/>
                    <a:pt x="13550" y="2336"/>
                  </a:cubicBezTo>
                  <a:cubicBezTo>
                    <a:pt x="11915" y="701"/>
                    <a:pt x="10046" y="0"/>
                    <a:pt x="7943" y="0"/>
                  </a:cubicBezTo>
                  <a:close/>
                  <a:moveTo>
                    <a:pt x="234" y="21492"/>
                  </a:moveTo>
                  <a:lnTo>
                    <a:pt x="234" y="70317"/>
                  </a:lnTo>
                  <a:lnTo>
                    <a:pt x="15886" y="70317"/>
                  </a:lnTo>
                  <a:lnTo>
                    <a:pt x="15886" y="21492"/>
                  </a:lnTo>
                  <a:close/>
                  <a:moveTo>
                    <a:pt x="56564" y="19886"/>
                  </a:moveTo>
                  <a:cubicBezTo>
                    <a:pt x="49899" y="19886"/>
                    <a:pt x="43331" y="22967"/>
                    <a:pt x="40649" y="28033"/>
                  </a:cubicBezTo>
                  <a:lnTo>
                    <a:pt x="40649" y="21492"/>
                  </a:lnTo>
                  <a:lnTo>
                    <a:pt x="25231" y="21492"/>
                  </a:lnTo>
                  <a:lnTo>
                    <a:pt x="25231" y="70317"/>
                  </a:lnTo>
                  <a:lnTo>
                    <a:pt x="40649" y="70317"/>
                  </a:lnTo>
                  <a:lnTo>
                    <a:pt x="40649" y="44620"/>
                  </a:lnTo>
                  <a:cubicBezTo>
                    <a:pt x="40649" y="37328"/>
                    <a:pt x="45481" y="33400"/>
                    <a:pt x="50201" y="33400"/>
                  </a:cubicBezTo>
                  <a:cubicBezTo>
                    <a:pt x="54704" y="33400"/>
                    <a:pt x="59104" y="36977"/>
                    <a:pt x="59104" y="44620"/>
                  </a:cubicBezTo>
                  <a:lnTo>
                    <a:pt x="59104" y="70317"/>
                  </a:lnTo>
                  <a:lnTo>
                    <a:pt x="74756" y="70317"/>
                  </a:lnTo>
                  <a:lnTo>
                    <a:pt x="74756" y="39480"/>
                  </a:lnTo>
                  <a:cubicBezTo>
                    <a:pt x="74756" y="25516"/>
                    <a:pt x="65572" y="19886"/>
                    <a:pt x="56564" y="198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8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11" name="Google Shape;111;p8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8"/>
          <p:cNvSpPr txBox="1">
            <a:spLocks noGrp="1"/>
          </p:cNvSpPr>
          <p:nvPr>
            <p:ph type="subTitle" idx="2"/>
          </p:nvPr>
        </p:nvSpPr>
        <p:spPr>
          <a:xfrm>
            <a:off x="8393025" y="6666034"/>
            <a:ext cx="5021700" cy="5049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subTitle" idx="3"/>
          </p:nvPr>
        </p:nvSpPr>
        <p:spPr>
          <a:xfrm>
            <a:off x="8393025" y="5932609"/>
            <a:ext cx="5021700" cy="4905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4"/>
          </p:nvPr>
        </p:nvSpPr>
        <p:spPr>
          <a:xfrm>
            <a:off x="8393025" y="7408997"/>
            <a:ext cx="5021700" cy="5049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subTitle" idx="5"/>
          </p:nvPr>
        </p:nvSpPr>
        <p:spPr>
          <a:xfrm>
            <a:off x="8393025" y="8156697"/>
            <a:ext cx="5021700" cy="5049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8773050" y="733450"/>
            <a:ext cx="4575600" cy="8662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 Проверьте выравнивание используя направляющие.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120" name="Google Shape;12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4" y="5338200"/>
            <a:ext cx="3821427" cy="38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Описание спикера 2">
  <p:cSld name="CUSTOM_3_1_1_2_2_1_1_1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71531" y="513931"/>
            <a:ext cx="4269600" cy="42696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 txBox="1"/>
          <p:nvPr/>
        </p:nvSpPr>
        <p:spPr>
          <a:xfrm>
            <a:off x="804050" y="2221950"/>
            <a:ext cx="38151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98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перекрывать пунктирный радиус)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1"/>
          </p:nvPr>
        </p:nvSpPr>
        <p:spPr>
          <a:xfrm>
            <a:off x="6269100" y="2949150"/>
            <a:ext cx="10003800" cy="1493100"/>
          </a:xfrm>
          <a:prstGeom prst="rect">
            <a:avLst/>
          </a:prstGeom>
        </p:spPr>
        <p:txBody>
          <a:bodyPr spcFirstLastPara="1" wrap="square" lIns="0" tIns="21600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6268650" y="980400"/>
            <a:ext cx="10003800" cy="1983600"/>
          </a:xfrm>
          <a:prstGeom prst="rect">
            <a:avLst/>
          </a:prstGeom>
        </p:spPr>
        <p:txBody>
          <a:bodyPr spcFirstLastPara="1" wrap="square" lIns="0" tIns="72000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2"/>
          </p:nvPr>
        </p:nvSpPr>
        <p:spPr>
          <a:xfrm>
            <a:off x="6268650" y="5436000"/>
            <a:ext cx="5706000" cy="2721600"/>
          </a:xfrm>
          <a:prstGeom prst="rect">
            <a:avLst/>
          </a:prstGeom>
        </p:spPr>
        <p:txBody>
          <a:bodyPr spcFirstLastPara="1" wrap="square" lIns="0" tIns="180000" rIns="36000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9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30" name="Google Shape;130;p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" name="Google Shape;134;p9"/>
          <p:cNvSpPr txBox="1">
            <a:spLocks noGrp="1"/>
          </p:cNvSpPr>
          <p:nvPr>
            <p:ph type="subTitle" idx="3"/>
          </p:nvPr>
        </p:nvSpPr>
        <p:spPr>
          <a:xfrm>
            <a:off x="6963825" y="8404925"/>
            <a:ext cx="4434600" cy="4998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551850" y="5472000"/>
            <a:ext cx="28584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Proxima Nova"/>
                <a:ea typeface="Proxima Nova"/>
                <a:cs typeface="Proxima Nova"/>
                <a:sym typeface="Proxima Nova"/>
              </a:rPr>
              <a:t>О спикере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551700" y="8401050"/>
            <a:ext cx="2858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roxima Nova"/>
                <a:ea typeface="Proxima Nova"/>
                <a:cs typeface="Proxima Nova"/>
                <a:sym typeface="Proxima Nova"/>
              </a:rPr>
              <a:t>Аккаунты в соц.сетях: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37" name="Google Shape;137;p9"/>
          <p:cNvGrpSpPr/>
          <p:nvPr/>
        </p:nvGrpSpPr>
        <p:grpSpPr>
          <a:xfrm>
            <a:off x="6269102" y="8402679"/>
            <a:ext cx="496952" cy="499901"/>
            <a:chOff x="1190625" y="238125"/>
            <a:chExt cx="4905800" cy="4905800"/>
          </a:xfrm>
        </p:grpSpPr>
        <p:sp>
          <p:nvSpPr>
            <p:cNvPr id="138" name="Google Shape;138;p9"/>
            <p:cNvSpPr/>
            <p:nvPr/>
          </p:nvSpPr>
          <p:spPr>
            <a:xfrm>
              <a:off x="1190625" y="238125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136650" y="1629200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9"/>
          <p:cNvGrpSpPr/>
          <p:nvPr/>
        </p:nvGrpSpPr>
        <p:grpSpPr>
          <a:xfrm>
            <a:off x="6268825" y="9144186"/>
            <a:ext cx="497516" cy="500468"/>
            <a:chOff x="1190625" y="238125"/>
            <a:chExt cx="5186200" cy="5186200"/>
          </a:xfrm>
        </p:grpSpPr>
        <p:sp>
          <p:nvSpPr>
            <p:cNvPr id="141" name="Google Shape;141;p9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2726600" y="1774100"/>
              <a:ext cx="2190150" cy="2190150"/>
            </a:xfrm>
            <a:custGeom>
              <a:avLst/>
              <a:gdLst/>
              <a:ahLst/>
              <a:cxnLst/>
              <a:rect l="l" t="t" r="r" b="b"/>
              <a:pathLst>
                <a:path w="87606" h="87606" extrusionOk="0">
                  <a:moveTo>
                    <a:pt x="66580" y="15186"/>
                  </a:moveTo>
                  <a:cubicBezTo>
                    <a:pt x="68216" y="15186"/>
                    <a:pt x="69617" y="15887"/>
                    <a:pt x="70552" y="16821"/>
                  </a:cubicBezTo>
                  <a:cubicBezTo>
                    <a:pt x="71486" y="17755"/>
                    <a:pt x="72187" y="19157"/>
                    <a:pt x="72187" y="20792"/>
                  </a:cubicBezTo>
                  <a:cubicBezTo>
                    <a:pt x="72187" y="22194"/>
                    <a:pt x="71486" y="23596"/>
                    <a:pt x="70552" y="24530"/>
                  </a:cubicBezTo>
                  <a:cubicBezTo>
                    <a:pt x="69617" y="25698"/>
                    <a:pt x="68216" y="26166"/>
                    <a:pt x="66580" y="26166"/>
                  </a:cubicBezTo>
                  <a:cubicBezTo>
                    <a:pt x="65179" y="26166"/>
                    <a:pt x="63777" y="25698"/>
                    <a:pt x="62843" y="24530"/>
                  </a:cubicBezTo>
                  <a:cubicBezTo>
                    <a:pt x="61675" y="23596"/>
                    <a:pt x="61207" y="22194"/>
                    <a:pt x="61207" y="20792"/>
                  </a:cubicBezTo>
                  <a:cubicBezTo>
                    <a:pt x="61207" y="19157"/>
                    <a:pt x="61675" y="17755"/>
                    <a:pt x="62843" y="16821"/>
                  </a:cubicBezTo>
                  <a:cubicBezTo>
                    <a:pt x="63777" y="15887"/>
                    <a:pt x="65179" y="15186"/>
                    <a:pt x="66580" y="15186"/>
                  </a:cubicBezTo>
                  <a:close/>
                  <a:moveTo>
                    <a:pt x="43686" y="30604"/>
                  </a:moveTo>
                  <a:cubicBezTo>
                    <a:pt x="40182" y="30604"/>
                    <a:pt x="36912" y="32006"/>
                    <a:pt x="34342" y="34342"/>
                  </a:cubicBezTo>
                  <a:cubicBezTo>
                    <a:pt x="32006" y="36912"/>
                    <a:pt x="30604" y="40182"/>
                    <a:pt x="30604" y="43686"/>
                  </a:cubicBezTo>
                  <a:cubicBezTo>
                    <a:pt x="30604" y="47191"/>
                    <a:pt x="32006" y="50461"/>
                    <a:pt x="34342" y="53031"/>
                  </a:cubicBezTo>
                  <a:cubicBezTo>
                    <a:pt x="36912" y="55367"/>
                    <a:pt x="40182" y="56769"/>
                    <a:pt x="43686" y="56769"/>
                  </a:cubicBezTo>
                  <a:cubicBezTo>
                    <a:pt x="47191" y="56769"/>
                    <a:pt x="50461" y="55367"/>
                    <a:pt x="53031" y="53031"/>
                  </a:cubicBezTo>
                  <a:cubicBezTo>
                    <a:pt x="55367" y="50461"/>
                    <a:pt x="56769" y="47191"/>
                    <a:pt x="56769" y="43686"/>
                  </a:cubicBezTo>
                  <a:cubicBezTo>
                    <a:pt x="56769" y="40182"/>
                    <a:pt x="55367" y="36912"/>
                    <a:pt x="53031" y="34342"/>
                  </a:cubicBezTo>
                  <a:cubicBezTo>
                    <a:pt x="50461" y="32006"/>
                    <a:pt x="47191" y="30604"/>
                    <a:pt x="43686" y="30604"/>
                  </a:cubicBezTo>
                  <a:close/>
                  <a:moveTo>
                    <a:pt x="43686" y="21727"/>
                  </a:moveTo>
                  <a:cubicBezTo>
                    <a:pt x="49527" y="21727"/>
                    <a:pt x="55133" y="24063"/>
                    <a:pt x="59105" y="28268"/>
                  </a:cubicBezTo>
                  <a:cubicBezTo>
                    <a:pt x="63310" y="32239"/>
                    <a:pt x="65646" y="37846"/>
                    <a:pt x="65646" y="43686"/>
                  </a:cubicBezTo>
                  <a:cubicBezTo>
                    <a:pt x="65646" y="49527"/>
                    <a:pt x="63310" y="55133"/>
                    <a:pt x="59105" y="59105"/>
                  </a:cubicBezTo>
                  <a:cubicBezTo>
                    <a:pt x="55133" y="63310"/>
                    <a:pt x="49527" y="65646"/>
                    <a:pt x="43686" y="65646"/>
                  </a:cubicBezTo>
                  <a:cubicBezTo>
                    <a:pt x="37846" y="65646"/>
                    <a:pt x="32239" y="63310"/>
                    <a:pt x="28268" y="59105"/>
                  </a:cubicBezTo>
                  <a:cubicBezTo>
                    <a:pt x="24063" y="55133"/>
                    <a:pt x="21727" y="49527"/>
                    <a:pt x="21727" y="43686"/>
                  </a:cubicBezTo>
                  <a:cubicBezTo>
                    <a:pt x="21727" y="37846"/>
                    <a:pt x="24063" y="32239"/>
                    <a:pt x="28268" y="28268"/>
                  </a:cubicBezTo>
                  <a:cubicBezTo>
                    <a:pt x="32239" y="24063"/>
                    <a:pt x="37846" y="21727"/>
                    <a:pt x="43686" y="21727"/>
                  </a:cubicBezTo>
                  <a:close/>
                  <a:moveTo>
                    <a:pt x="43686" y="1"/>
                  </a:moveTo>
                  <a:cubicBezTo>
                    <a:pt x="31772" y="1"/>
                    <a:pt x="30371" y="1"/>
                    <a:pt x="25698" y="235"/>
                  </a:cubicBezTo>
                  <a:cubicBezTo>
                    <a:pt x="21026" y="468"/>
                    <a:pt x="17755" y="1169"/>
                    <a:pt x="14952" y="2103"/>
                  </a:cubicBezTo>
                  <a:cubicBezTo>
                    <a:pt x="12149" y="3272"/>
                    <a:pt x="9345" y="4907"/>
                    <a:pt x="7243" y="7243"/>
                  </a:cubicBezTo>
                  <a:cubicBezTo>
                    <a:pt x="4907" y="9345"/>
                    <a:pt x="3272" y="12149"/>
                    <a:pt x="2103" y="14952"/>
                  </a:cubicBezTo>
                  <a:cubicBezTo>
                    <a:pt x="1169" y="17755"/>
                    <a:pt x="468" y="21026"/>
                    <a:pt x="235" y="25698"/>
                  </a:cubicBezTo>
                  <a:cubicBezTo>
                    <a:pt x="1" y="30371"/>
                    <a:pt x="1" y="31772"/>
                    <a:pt x="1" y="43686"/>
                  </a:cubicBezTo>
                  <a:cubicBezTo>
                    <a:pt x="1" y="55601"/>
                    <a:pt x="1" y="57002"/>
                    <a:pt x="235" y="61675"/>
                  </a:cubicBezTo>
                  <a:cubicBezTo>
                    <a:pt x="468" y="66347"/>
                    <a:pt x="1169" y="69617"/>
                    <a:pt x="2103" y="72421"/>
                  </a:cubicBezTo>
                  <a:cubicBezTo>
                    <a:pt x="3272" y="75224"/>
                    <a:pt x="4907" y="78027"/>
                    <a:pt x="7243" y="80130"/>
                  </a:cubicBezTo>
                  <a:cubicBezTo>
                    <a:pt x="9345" y="82466"/>
                    <a:pt x="12149" y="84101"/>
                    <a:pt x="14952" y="85269"/>
                  </a:cubicBezTo>
                  <a:cubicBezTo>
                    <a:pt x="17755" y="86204"/>
                    <a:pt x="21026" y="86905"/>
                    <a:pt x="25698" y="87138"/>
                  </a:cubicBezTo>
                  <a:cubicBezTo>
                    <a:pt x="30371" y="87372"/>
                    <a:pt x="31772" y="87605"/>
                    <a:pt x="43686" y="87605"/>
                  </a:cubicBezTo>
                  <a:cubicBezTo>
                    <a:pt x="55601" y="87605"/>
                    <a:pt x="57002" y="87372"/>
                    <a:pt x="61675" y="87138"/>
                  </a:cubicBezTo>
                  <a:cubicBezTo>
                    <a:pt x="66347" y="86905"/>
                    <a:pt x="69617" y="86204"/>
                    <a:pt x="72421" y="85269"/>
                  </a:cubicBezTo>
                  <a:cubicBezTo>
                    <a:pt x="75224" y="84101"/>
                    <a:pt x="78027" y="82466"/>
                    <a:pt x="80130" y="80130"/>
                  </a:cubicBezTo>
                  <a:cubicBezTo>
                    <a:pt x="82466" y="78027"/>
                    <a:pt x="84101" y="75224"/>
                    <a:pt x="85269" y="72421"/>
                  </a:cubicBezTo>
                  <a:cubicBezTo>
                    <a:pt x="86204" y="69617"/>
                    <a:pt x="86905" y="66347"/>
                    <a:pt x="87138" y="61675"/>
                  </a:cubicBezTo>
                  <a:cubicBezTo>
                    <a:pt x="87372" y="57002"/>
                    <a:pt x="87605" y="55601"/>
                    <a:pt x="87605" y="43686"/>
                  </a:cubicBezTo>
                  <a:cubicBezTo>
                    <a:pt x="87605" y="31772"/>
                    <a:pt x="87372" y="30371"/>
                    <a:pt x="87138" y="25698"/>
                  </a:cubicBezTo>
                  <a:cubicBezTo>
                    <a:pt x="86905" y="21026"/>
                    <a:pt x="86204" y="17755"/>
                    <a:pt x="85269" y="14952"/>
                  </a:cubicBezTo>
                  <a:cubicBezTo>
                    <a:pt x="84101" y="12149"/>
                    <a:pt x="82466" y="9345"/>
                    <a:pt x="80130" y="7243"/>
                  </a:cubicBezTo>
                  <a:cubicBezTo>
                    <a:pt x="77794" y="4907"/>
                    <a:pt x="75224" y="3272"/>
                    <a:pt x="72421" y="2103"/>
                  </a:cubicBezTo>
                  <a:cubicBezTo>
                    <a:pt x="69617" y="1169"/>
                    <a:pt x="66347" y="468"/>
                    <a:pt x="61675" y="235"/>
                  </a:cubicBezTo>
                  <a:cubicBezTo>
                    <a:pt x="57002" y="1"/>
                    <a:pt x="55601" y="1"/>
                    <a:pt x="436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" name="Google Shape;143;p9"/>
          <p:cNvGrpSpPr/>
          <p:nvPr/>
        </p:nvGrpSpPr>
        <p:grpSpPr>
          <a:xfrm>
            <a:off x="11974538" y="8402463"/>
            <a:ext cx="498567" cy="500468"/>
            <a:chOff x="1190625" y="238125"/>
            <a:chExt cx="5186200" cy="5186200"/>
          </a:xfrm>
        </p:grpSpPr>
        <p:sp>
          <p:nvSpPr>
            <p:cNvPr id="144" name="Google Shape;144;p9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498850" y="1698200"/>
              <a:ext cx="2493825" cy="2264050"/>
            </a:xfrm>
            <a:custGeom>
              <a:avLst/>
              <a:gdLst/>
              <a:ahLst/>
              <a:cxnLst/>
              <a:rect l="l" t="t" r="r" b="b"/>
              <a:pathLst>
                <a:path w="99753" h="90562" extrusionOk="0">
                  <a:moveTo>
                    <a:pt x="91810" y="7943"/>
                  </a:moveTo>
                  <a:cubicBezTo>
                    <a:pt x="91810" y="8176"/>
                    <a:pt x="91810" y="8176"/>
                    <a:pt x="91810" y="8644"/>
                  </a:cubicBezTo>
                  <a:lnTo>
                    <a:pt x="77559" y="81998"/>
                  </a:lnTo>
                  <a:cubicBezTo>
                    <a:pt x="77559" y="82231"/>
                    <a:pt x="77326" y="82465"/>
                    <a:pt x="77092" y="82699"/>
                  </a:cubicBezTo>
                  <a:cubicBezTo>
                    <a:pt x="76995" y="82795"/>
                    <a:pt x="76899" y="82852"/>
                    <a:pt x="76735" y="82852"/>
                  </a:cubicBezTo>
                  <a:cubicBezTo>
                    <a:pt x="76505" y="82852"/>
                    <a:pt x="76141" y="82739"/>
                    <a:pt x="75457" y="82465"/>
                  </a:cubicBezTo>
                  <a:lnTo>
                    <a:pt x="52796" y="64944"/>
                  </a:lnTo>
                  <a:lnTo>
                    <a:pt x="39247" y="77559"/>
                  </a:lnTo>
                  <a:lnTo>
                    <a:pt x="42050" y="59104"/>
                  </a:lnTo>
                  <a:lnTo>
                    <a:pt x="78961" y="24062"/>
                  </a:lnTo>
                  <a:cubicBezTo>
                    <a:pt x="80363" y="22660"/>
                    <a:pt x="79895" y="22427"/>
                    <a:pt x="79895" y="22427"/>
                  </a:cubicBezTo>
                  <a:cubicBezTo>
                    <a:pt x="79895" y="21679"/>
                    <a:pt x="79522" y="21455"/>
                    <a:pt x="79073" y="21455"/>
                  </a:cubicBezTo>
                  <a:cubicBezTo>
                    <a:pt x="78400" y="21455"/>
                    <a:pt x="77559" y="21960"/>
                    <a:pt x="77559" y="21960"/>
                  </a:cubicBezTo>
                  <a:lnTo>
                    <a:pt x="31071" y="51161"/>
                  </a:lnTo>
                  <a:lnTo>
                    <a:pt x="31071" y="50927"/>
                  </a:lnTo>
                  <a:lnTo>
                    <a:pt x="8877" y="43452"/>
                  </a:lnTo>
                  <a:lnTo>
                    <a:pt x="8877" y="43218"/>
                  </a:lnTo>
                  <a:lnTo>
                    <a:pt x="9111" y="43218"/>
                  </a:lnTo>
                  <a:cubicBezTo>
                    <a:pt x="9111" y="43218"/>
                    <a:pt x="28968" y="34808"/>
                    <a:pt x="49292" y="26165"/>
                  </a:cubicBezTo>
                  <a:cubicBezTo>
                    <a:pt x="59338" y="21726"/>
                    <a:pt x="69616" y="17287"/>
                    <a:pt x="77326" y="14017"/>
                  </a:cubicBezTo>
                  <a:cubicBezTo>
                    <a:pt x="85268" y="10746"/>
                    <a:pt x="91109" y="8176"/>
                    <a:pt x="91342" y="8176"/>
                  </a:cubicBezTo>
                  <a:cubicBezTo>
                    <a:pt x="91810" y="7943"/>
                    <a:pt x="91576" y="7943"/>
                    <a:pt x="91810" y="7943"/>
                  </a:cubicBezTo>
                  <a:close/>
                  <a:moveTo>
                    <a:pt x="92277" y="0"/>
                  </a:moveTo>
                  <a:cubicBezTo>
                    <a:pt x="90875" y="0"/>
                    <a:pt x="89707" y="467"/>
                    <a:pt x="88539" y="934"/>
                  </a:cubicBezTo>
                  <a:cubicBezTo>
                    <a:pt x="87605" y="1402"/>
                    <a:pt x="82232" y="3504"/>
                    <a:pt x="74522" y="6775"/>
                  </a:cubicBezTo>
                  <a:lnTo>
                    <a:pt x="46255" y="18923"/>
                  </a:lnTo>
                  <a:cubicBezTo>
                    <a:pt x="25931" y="27566"/>
                    <a:pt x="6074" y="35976"/>
                    <a:pt x="6074" y="35976"/>
                  </a:cubicBezTo>
                  <a:lnTo>
                    <a:pt x="6308" y="35976"/>
                  </a:lnTo>
                  <a:cubicBezTo>
                    <a:pt x="6308" y="35976"/>
                    <a:pt x="4906" y="36443"/>
                    <a:pt x="3504" y="37378"/>
                  </a:cubicBezTo>
                  <a:cubicBezTo>
                    <a:pt x="2803" y="38079"/>
                    <a:pt x="1869" y="38780"/>
                    <a:pt x="1402" y="39714"/>
                  </a:cubicBezTo>
                  <a:cubicBezTo>
                    <a:pt x="701" y="40649"/>
                    <a:pt x="0" y="42284"/>
                    <a:pt x="234" y="43919"/>
                  </a:cubicBezTo>
                  <a:cubicBezTo>
                    <a:pt x="701" y="46722"/>
                    <a:pt x="2336" y="48358"/>
                    <a:pt x="3738" y="49292"/>
                  </a:cubicBezTo>
                  <a:cubicBezTo>
                    <a:pt x="4906" y="50227"/>
                    <a:pt x="6308" y="50694"/>
                    <a:pt x="6308" y="50694"/>
                  </a:cubicBezTo>
                  <a:lnTo>
                    <a:pt x="24997" y="57001"/>
                  </a:lnTo>
                  <a:cubicBezTo>
                    <a:pt x="25697" y="59805"/>
                    <a:pt x="30603" y="75924"/>
                    <a:pt x="31771" y="79662"/>
                  </a:cubicBezTo>
                  <a:cubicBezTo>
                    <a:pt x="32472" y="81998"/>
                    <a:pt x="33173" y="83400"/>
                    <a:pt x="33874" y="84334"/>
                  </a:cubicBezTo>
                  <a:cubicBezTo>
                    <a:pt x="34341" y="85035"/>
                    <a:pt x="34808" y="85502"/>
                    <a:pt x="35509" y="85736"/>
                  </a:cubicBezTo>
                  <a:cubicBezTo>
                    <a:pt x="35743" y="85969"/>
                    <a:pt x="35976" y="86203"/>
                    <a:pt x="36444" y="86203"/>
                  </a:cubicBezTo>
                  <a:lnTo>
                    <a:pt x="36677" y="86203"/>
                  </a:lnTo>
                  <a:cubicBezTo>
                    <a:pt x="37285" y="86390"/>
                    <a:pt x="37864" y="86465"/>
                    <a:pt x="38402" y="86465"/>
                  </a:cubicBezTo>
                  <a:cubicBezTo>
                    <a:pt x="40555" y="86465"/>
                    <a:pt x="42050" y="85268"/>
                    <a:pt x="42050" y="85268"/>
                  </a:cubicBezTo>
                  <a:lnTo>
                    <a:pt x="42284" y="85268"/>
                  </a:lnTo>
                  <a:lnTo>
                    <a:pt x="53264" y="74989"/>
                  </a:lnTo>
                  <a:lnTo>
                    <a:pt x="71719" y="89473"/>
                  </a:lnTo>
                  <a:lnTo>
                    <a:pt x="72186" y="89707"/>
                  </a:lnTo>
                  <a:cubicBezTo>
                    <a:pt x="73559" y="90308"/>
                    <a:pt x="74963" y="90562"/>
                    <a:pt x="76294" y="90562"/>
                  </a:cubicBezTo>
                  <a:cubicBezTo>
                    <a:pt x="78589" y="90562"/>
                    <a:pt x="80668" y="89807"/>
                    <a:pt x="81998" y="88773"/>
                  </a:cubicBezTo>
                  <a:cubicBezTo>
                    <a:pt x="83867" y="86904"/>
                    <a:pt x="84801" y="84801"/>
                    <a:pt x="84801" y="84801"/>
                  </a:cubicBezTo>
                  <a:lnTo>
                    <a:pt x="84801" y="84568"/>
                  </a:lnTo>
                  <a:lnTo>
                    <a:pt x="99052" y="10279"/>
                  </a:lnTo>
                  <a:cubicBezTo>
                    <a:pt x="99519" y="8410"/>
                    <a:pt x="99752" y="6775"/>
                    <a:pt x="99285" y="5139"/>
                  </a:cubicBezTo>
                  <a:cubicBezTo>
                    <a:pt x="98818" y="3504"/>
                    <a:pt x="97650" y="1869"/>
                    <a:pt x="96248" y="1168"/>
                  </a:cubicBezTo>
                  <a:cubicBezTo>
                    <a:pt x="95080" y="234"/>
                    <a:pt x="93679" y="0"/>
                    <a:pt x="92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" name="Google Shape;146;p9"/>
          <p:cNvGrpSpPr/>
          <p:nvPr/>
        </p:nvGrpSpPr>
        <p:grpSpPr>
          <a:xfrm>
            <a:off x="11974538" y="9144254"/>
            <a:ext cx="498567" cy="500468"/>
            <a:chOff x="1190625" y="238125"/>
            <a:chExt cx="5186200" cy="5186200"/>
          </a:xfrm>
        </p:grpSpPr>
        <p:sp>
          <p:nvSpPr>
            <p:cNvPr id="147" name="Google Shape;147;p9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2942700" y="1803325"/>
              <a:ext cx="1868925" cy="1757950"/>
            </a:xfrm>
            <a:custGeom>
              <a:avLst/>
              <a:gdLst/>
              <a:ahLst/>
              <a:cxnLst/>
              <a:rect l="l" t="t" r="r" b="b"/>
              <a:pathLst>
                <a:path w="74757" h="70318" extrusionOk="0">
                  <a:moveTo>
                    <a:pt x="7943" y="0"/>
                  </a:moveTo>
                  <a:cubicBezTo>
                    <a:pt x="5841" y="0"/>
                    <a:pt x="3972" y="701"/>
                    <a:pt x="2337" y="2336"/>
                  </a:cubicBezTo>
                  <a:cubicBezTo>
                    <a:pt x="935" y="3738"/>
                    <a:pt x="1" y="5607"/>
                    <a:pt x="1" y="7709"/>
                  </a:cubicBezTo>
                  <a:cubicBezTo>
                    <a:pt x="1" y="9812"/>
                    <a:pt x="935" y="11914"/>
                    <a:pt x="2337" y="13316"/>
                  </a:cubicBezTo>
                  <a:cubicBezTo>
                    <a:pt x="3972" y="14718"/>
                    <a:pt x="5841" y="15652"/>
                    <a:pt x="7943" y="15652"/>
                  </a:cubicBezTo>
                  <a:cubicBezTo>
                    <a:pt x="10046" y="15652"/>
                    <a:pt x="11915" y="14718"/>
                    <a:pt x="13550" y="13316"/>
                  </a:cubicBezTo>
                  <a:cubicBezTo>
                    <a:pt x="14952" y="11914"/>
                    <a:pt x="15653" y="9812"/>
                    <a:pt x="15653" y="7709"/>
                  </a:cubicBezTo>
                  <a:cubicBezTo>
                    <a:pt x="15653" y="5840"/>
                    <a:pt x="14952" y="3738"/>
                    <a:pt x="13550" y="2336"/>
                  </a:cubicBezTo>
                  <a:cubicBezTo>
                    <a:pt x="11915" y="701"/>
                    <a:pt x="10046" y="0"/>
                    <a:pt x="7943" y="0"/>
                  </a:cubicBezTo>
                  <a:close/>
                  <a:moveTo>
                    <a:pt x="234" y="21492"/>
                  </a:moveTo>
                  <a:lnTo>
                    <a:pt x="234" y="70317"/>
                  </a:lnTo>
                  <a:lnTo>
                    <a:pt x="15886" y="70317"/>
                  </a:lnTo>
                  <a:lnTo>
                    <a:pt x="15886" y="21492"/>
                  </a:lnTo>
                  <a:close/>
                  <a:moveTo>
                    <a:pt x="56564" y="19886"/>
                  </a:moveTo>
                  <a:cubicBezTo>
                    <a:pt x="49899" y="19886"/>
                    <a:pt x="43331" y="22967"/>
                    <a:pt x="40649" y="28033"/>
                  </a:cubicBezTo>
                  <a:lnTo>
                    <a:pt x="40649" y="21492"/>
                  </a:lnTo>
                  <a:lnTo>
                    <a:pt x="25231" y="21492"/>
                  </a:lnTo>
                  <a:lnTo>
                    <a:pt x="25231" y="70317"/>
                  </a:lnTo>
                  <a:lnTo>
                    <a:pt x="40649" y="70317"/>
                  </a:lnTo>
                  <a:lnTo>
                    <a:pt x="40649" y="44620"/>
                  </a:lnTo>
                  <a:cubicBezTo>
                    <a:pt x="40649" y="37328"/>
                    <a:pt x="45481" y="33400"/>
                    <a:pt x="50201" y="33400"/>
                  </a:cubicBezTo>
                  <a:cubicBezTo>
                    <a:pt x="54704" y="33400"/>
                    <a:pt x="59104" y="36977"/>
                    <a:pt x="59104" y="44620"/>
                  </a:cubicBezTo>
                  <a:lnTo>
                    <a:pt x="59104" y="70317"/>
                  </a:lnTo>
                  <a:lnTo>
                    <a:pt x="74756" y="70317"/>
                  </a:lnTo>
                  <a:lnTo>
                    <a:pt x="74756" y="39480"/>
                  </a:lnTo>
                  <a:cubicBezTo>
                    <a:pt x="74756" y="25516"/>
                    <a:pt x="65572" y="19886"/>
                    <a:pt x="56564" y="198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9"/>
          <p:cNvSpPr txBox="1">
            <a:spLocks noGrp="1"/>
          </p:cNvSpPr>
          <p:nvPr>
            <p:ph type="subTitle" idx="4"/>
          </p:nvPr>
        </p:nvSpPr>
        <p:spPr>
          <a:xfrm>
            <a:off x="6963825" y="9144513"/>
            <a:ext cx="4434600" cy="4998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5"/>
          </p:nvPr>
        </p:nvSpPr>
        <p:spPr>
          <a:xfrm>
            <a:off x="12695913" y="9144513"/>
            <a:ext cx="4434600" cy="4998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6"/>
          </p:nvPr>
        </p:nvSpPr>
        <p:spPr>
          <a:xfrm>
            <a:off x="12695925" y="8416975"/>
            <a:ext cx="4434600" cy="482100"/>
          </a:xfrm>
          <a:prstGeom prst="rect">
            <a:avLst/>
          </a:prstGeom>
        </p:spPr>
        <p:txBody>
          <a:bodyPr spcFirstLastPara="1" wrap="square" lIns="0" tIns="12600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subTitle" idx="7"/>
          </p:nvPr>
        </p:nvSpPr>
        <p:spPr>
          <a:xfrm>
            <a:off x="11985450" y="5436000"/>
            <a:ext cx="5750700" cy="2721600"/>
          </a:xfrm>
          <a:prstGeom prst="rect">
            <a:avLst/>
          </a:prstGeom>
        </p:spPr>
        <p:txBody>
          <a:bodyPr spcFirstLastPara="1" wrap="square" lIns="0" tIns="18000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18773050" y="733450"/>
            <a:ext cx="4575600" cy="86625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 Проверьте выравнивание используя направляющие.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154" name="Google Shape;15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75" y="5436000"/>
            <a:ext cx="3420775" cy="37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Шесть элементов">
  <p:cSld name="CUSTOM_3_1_1_2_2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59" name="Google Shape;159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64" name="Google Shape;164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69" name="Google Shape;169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10"/>
          <p:cNvSpPr txBox="1">
            <a:spLocks noGrp="1"/>
          </p:cNvSpPr>
          <p:nvPr>
            <p:ph type="body" idx="1"/>
          </p:nvPr>
        </p:nvSpPr>
        <p:spPr>
          <a:xfrm>
            <a:off x="541200" y="3452400"/>
            <a:ext cx="4315800" cy="22284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50725" y="2209800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267725" y="2213250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1986625" y="2213250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550725" y="5663763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6267725" y="5663763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1986625" y="5663763"/>
            <a:ext cx="1242000" cy="1242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"/>
          <p:cNvSpPr txBox="1">
            <a:spLocks noGrp="1"/>
          </p:cNvSpPr>
          <p:nvPr>
            <p:ph type="body" idx="2"/>
          </p:nvPr>
        </p:nvSpPr>
        <p:spPr>
          <a:xfrm>
            <a:off x="551850" y="6912000"/>
            <a:ext cx="4315800" cy="27288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1" name="Google Shape;181;p10"/>
          <p:cNvSpPr txBox="1">
            <a:spLocks noGrp="1"/>
          </p:cNvSpPr>
          <p:nvPr>
            <p:ph type="body" idx="3"/>
          </p:nvPr>
        </p:nvSpPr>
        <p:spPr>
          <a:xfrm>
            <a:off x="6268650" y="3452400"/>
            <a:ext cx="4545600" cy="22284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2" name="Google Shape;182;p10"/>
          <p:cNvSpPr txBox="1">
            <a:spLocks noGrp="1"/>
          </p:cNvSpPr>
          <p:nvPr>
            <p:ph type="body" idx="4"/>
          </p:nvPr>
        </p:nvSpPr>
        <p:spPr>
          <a:xfrm>
            <a:off x="6268625" y="6912000"/>
            <a:ext cx="4287600" cy="27288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3" name="Google Shape;183;p10"/>
          <p:cNvSpPr txBox="1">
            <a:spLocks noGrp="1"/>
          </p:cNvSpPr>
          <p:nvPr>
            <p:ph type="body" idx="5"/>
          </p:nvPr>
        </p:nvSpPr>
        <p:spPr>
          <a:xfrm>
            <a:off x="11978000" y="3440550"/>
            <a:ext cx="4315800" cy="22284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body" idx="6"/>
          </p:nvPr>
        </p:nvSpPr>
        <p:spPr>
          <a:xfrm>
            <a:off x="11978000" y="6912000"/>
            <a:ext cx="4315800" cy="2728800"/>
          </a:xfrm>
          <a:prstGeom prst="rect">
            <a:avLst/>
          </a:prstGeom>
          <a:noFill/>
        </p:spPr>
        <p:txBody>
          <a:bodyPr spcFirstLastPara="1" wrap="square" lIns="0" tIns="180000" rIns="0" bIns="0" anchor="t" anchorCtr="0">
            <a:noAutofit/>
          </a:bodyPr>
          <a:lstStyle>
            <a:lvl1pPr marL="457200" lvl="0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400"/>
              <a:buChar char="●"/>
              <a:defRPr sz="2400"/>
            </a:lvl1pPr>
            <a:lvl2pPr marL="914400" lvl="1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grpSp>
        <p:nvGrpSpPr>
          <p:cNvPr id="185" name="Google Shape;185;p1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86" name="Google Shape;186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1483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18773050" y="733450"/>
            <a:ext cx="3521100" cy="421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Впишите в круг иконку или текстовое </a:t>
            </a:r>
            <a:br>
              <a:rPr lang="ru"/>
            </a:br>
            <a:r>
              <a:rPr lang="ru"/>
              <a:t>значение с размером шрифта 30pt.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192" name="Google Shape;19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871427" y="2097078"/>
            <a:ext cx="2757157" cy="25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Три элемента">
  <p:cSld name="CUSTOM_3_1_1_2_2_1_1_1_1_2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196" name="Google Shape;196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01" name="Google Shape;201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06" name="Google Shape;206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11"/>
          <p:cNvSpPr txBox="1">
            <a:spLocks noGrp="1"/>
          </p:cNvSpPr>
          <p:nvPr>
            <p:ph type="body" idx="1"/>
          </p:nvPr>
        </p:nvSpPr>
        <p:spPr>
          <a:xfrm>
            <a:off x="551850" y="5921400"/>
            <a:ext cx="5716800" cy="2977800"/>
          </a:xfrm>
          <a:prstGeom prst="rect">
            <a:avLst/>
          </a:prstGeom>
          <a:noFill/>
        </p:spPr>
        <p:txBody>
          <a:bodyPr spcFirstLastPara="1" wrap="square" lIns="0" tIns="144000" rIns="18000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grpSp>
        <p:nvGrpSpPr>
          <p:cNvPr id="211" name="Google Shape;211;p1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12" name="Google Shape;212;p1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11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1483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547200" y="3194025"/>
            <a:ext cx="2484000" cy="2484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6268638" y="3199200"/>
            <a:ext cx="2484000" cy="2484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1983225" y="3199200"/>
            <a:ext cx="2484000" cy="2484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"/>
          <p:cNvSpPr txBox="1">
            <a:spLocks noGrp="1"/>
          </p:cNvSpPr>
          <p:nvPr>
            <p:ph type="body" idx="2"/>
          </p:nvPr>
        </p:nvSpPr>
        <p:spPr>
          <a:xfrm>
            <a:off x="6268650" y="5921400"/>
            <a:ext cx="5716800" cy="2977800"/>
          </a:xfrm>
          <a:prstGeom prst="rect">
            <a:avLst/>
          </a:prstGeom>
          <a:noFill/>
        </p:spPr>
        <p:txBody>
          <a:bodyPr spcFirstLastPara="1" wrap="square" lIns="0" tIns="144000" rIns="18000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21" name="Google Shape;221;p11"/>
          <p:cNvSpPr txBox="1">
            <a:spLocks noGrp="1"/>
          </p:cNvSpPr>
          <p:nvPr>
            <p:ph type="body" idx="3"/>
          </p:nvPr>
        </p:nvSpPr>
        <p:spPr>
          <a:xfrm>
            <a:off x="11985450" y="5921400"/>
            <a:ext cx="5750700" cy="2977800"/>
          </a:xfrm>
          <a:prstGeom prst="rect">
            <a:avLst/>
          </a:prstGeom>
          <a:noFill/>
        </p:spPr>
        <p:txBody>
          <a:bodyPr spcFirstLastPara="1" wrap="square" lIns="0" tIns="144000" rIns="180000" bIns="0" anchor="t" anchorCtr="0">
            <a:noAutofit/>
          </a:bodyPr>
          <a:lstStyle>
            <a:lvl1pPr marL="457200" lvl="0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Char char="●"/>
              <a:defRPr sz="3000"/>
            </a:lvl1pPr>
            <a:lvl2pPr marL="914400" lvl="1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marL="1371600" lvl="2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marL="1828800" lvl="3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marL="2286000" lvl="4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marL="2743200" lvl="5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marL="3200400" lvl="6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marL="3657600" lvl="7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marL="4114800" lvl="8" indent="-419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8773050" y="725400"/>
            <a:ext cx="3521100" cy="445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Впишите в круг иконку или текстовое </a:t>
            </a:r>
            <a:br>
              <a:rPr lang="ru"/>
            </a:br>
            <a:r>
              <a:rPr lang="ru"/>
              <a:t>значение с размером шрифта 56pt.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2">
            <a:alphaModFix/>
          </a:blip>
          <a:srcRect l="7544"/>
          <a:stretch/>
        </p:blipFill>
        <p:spPr>
          <a:xfrm>
            <a:off x="18930390" y="1974600"/>
            <a:ext cx="264192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Большая цифра">
  <p:cSld name="CUSTOM_3_1_1_2_2_1_1_1_1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/>
          <p:nvPr/>
        </p:nvSpPr>
        <p:spPr>
          <a:xfrm>
            <a:off x="4000500" y="0"/>
            <a:ext cx="10287000" cy="10287000"/>
          </a:xfrm>
          <a:prstGeom prst="ellipse">
            <a:avLst/>
          </a:prstGeom>
          <a:noFill/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 txBox="1">
            <a:spLocks noGrp="1"/>
          </p:cNvSpPr>
          <p:nvPr>
            <p:ph type="subTitle" idx="1"/>
          </p:nvPr>
        </p:nvSpPr>
        <p:spPr>
          <a:xfrm>
            <a:off x="4856925" y="2217600"/>
            <a:ext cx="8574000" cy="29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23000"/>
              <a:buNone/>
              <a:defRPr sz="23000" b="1">
                <a:solidFill>
                  <a:srgbClr val="4BD0A0"/>
                </a:solidFill>
              </a:defRPr>
            </a:lvl1pPr>
            <a:lvl2pPr lvl="1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-6286500" y="47700"/>
            <a:ext cx="10287000" cy="10287000"/>
          </a:xfrm>
          <a:prstGeom prst="ellipse">
            <a:avLst/>
          </a:prstGeom>
          <a:noFill/>
          <a:ln w="285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4287500" y="47700"/>
            <a:ext cx="10287000" cy="10287000"/>
          </a:xfrm>
          <a:prstGeom prst="ellipse">
            <a:avLst/>
          </a:prstGeom>
          <a:noFill/>
          <a:ln w="2857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 txBox="1">
            <a:spLocks noGrp="1"/>
          </p:cNvSpPr>
          <p:nvPr>
            <p:ph type="title"/>
          </p:nvPr>
        </p:nvSpPr>
        <p:spPr>
          <a:xfrm>
            <a:off x="4856925" y="5435575"/>
            <a:ext cx="8574000" cy="2469900"/>
          </a:xfrm>
          <a:prstGeom prst="rect">
            <a:avLst/>
          </a:prstGeom>
        </p:spPr>
        <p:txBody>
          <a:bodyPr spcFirstLastPara="1" wrap="square" lIns="0" tIns="126000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2"/>
          <p:cNvSpPr txBox="1">
            <a:spLocks noGrp="1"/>
          </p:cNvSpPr>
          <p:nvPr>
            <p:ph type="body" idx="2"/>
          </p:nvPr>
        </p:nvSpPr>
        <p:spPr>
          <a:xfrm>
            <a:off x="551850" y="9396000"/>
            <a:ext cx="7146000" cy="2448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●"/>
              <a:defRPr sz="1400">
                <a:solidFill>
                  <a:srgbClr val="999999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○"/>
              <a:defRPr sz="1400">
                <a:solidFill>
                  <a:srgbClr val="999999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grpSp>
        <p:nvGrpSpPr>
          <p:cNvPr id="232" name="Google Shape;232;p12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33" name="Google Shape;233;p1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CUSTOM_3_1_1_2_1">
    <p:bg>
      <p:bgPr>
        <a:solidFill>
          <a:srgbClr val="4BD0A0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14272675" y="723900"/>
            <a:ext cx="9563100" cy="9563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4702500" y="723900"/>
            <a:ext cx="9563100" cy="95631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7016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241" name="Google Shape;241;p1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42" name="Google Shape;242;p1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" name="Google Shape;246;p13"/>
          <p:cNvSpPr/>
          <p:nvPr/>
        </p:nvSpPr>
        <p:spPr>
          <a:xfrm>
            <a:off x="18773050" y="725400"/>
            <a:ext cx="4680000" cy="4465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подзаголовков используйте шрифт размером 30pt. Добавьте пустую строку, для отделения заголовка от подзаголовка.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247" name="Google Shape;24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1750" y="2217591"/>
            <a:ext cx="4364628" cy="27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/>
          <p:nvPr/>
        </p:nvSpPr>
        <p:spPr>
          <a:xfrm>
            <a:off x="18773050" y="5916625"/>
            <a:ext cx="4680000" cy="29826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Нижний текстовый блок используйте для написания имени, фамилии и должности.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249" name="Google Shape;24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1750" y="7164000"/>
            <a:ext cx="3167966" cy="149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Финальный слайд">
  <p:cSld name="CUSTOM_3_1_1_2_1_3">
    <p:bg>
      <p:bgPr>
        <a:solidFill>
          <a:srgbClr val="4BD0A0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4"/>
          <p:cNvGrpSpPr/>
          <p:nvPr/>
        </p:nvGrpSpPr>
        <p:grpSpPr>
          <a:xfrm>
            <a:off x="3949200" y="723900"/>
            <a:ext cx="19133275" cy="9563100"/>
            <a:chOff x="3949200" y="723900"/>
            <a:chExt cx="19133275" cy="9563100"/>
          </a:xfrm>
        </p:grpSpPr>
        <p:sp>
          <p:nvSpPr>
            <p:cNvPr id="254" name="Google Shape;254;p14"/>
            <p:cNvSpPr/>
            <p:nvPr/>
          </p:nvSpPr>
          <p:spPr>
            <a:xfrm>
              <a:off x="13519375" y="723900"/>
              <a:ext cx="9563100" cy="9563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3949200" y="723900"/>
              <a:ext cx="9563100" cy="9563100"/>
            </a:xfrm>
            <a:prstGeom prst="ellipse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14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ubTitle" idx="2"/>
          </p:nvPr>
        </p:nvSpPr>
        <p:spPr>
          <a:xfrm>
            <a:off x="8454216" y="8908925"/>
            <a:ext cx="3547200" cy="732000"/>
          </a:xfrm>
          <a:prstGeom prst="rect">
            <a:avLst/>
          </a:prstGeom>
        </p:spPr>
        <p:txBody>
          <a:bodyPr spcFirstLastPara="1" wrap="square" lIns="144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subTitle" idx="3"/>
          </p:nvPr>
        </p:nvSpPr>
        <p:spPr>
          <a:xfrm>
            <a:off x="12725850" y="8908925"/>
            <a:ext cx="3547200" cy="732000"/>
          </a:xfrm>
          <a:prstGeom prst="rect">
            <a:avLst/>
          </a:prstGeom>
        </p:spPr>
        <p:txBody>
          <a:bodyPr spcFirstLastPara="1" wrap="square" lIns="144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4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60" name="Google Shape;260;p1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4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9464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265" name="Google Shape;265;p14"/>
          <p:cNvGrpSpPr/>
          <p:nvPr/>
        </p:nvGrpSpPr>
        <p:grpSpPr>
          <a:xfrm>
            <a:off x="11989956" y="8898074"/>
            <a:ext cx="741757" cy="741757"/>
            <a:chOff x="1190625" y="193738"/>
            <a:chExt cx="4905800" cy="4905800"/>
          </a:xfrm>
        </p:grpSpPr>
        <p:sp>
          <p:nvSpPr>
            <p:cNvPr id="266" name="Google Shape;266;p14"/>
            <p:cNvSpPr/>
            <p:nvPr/>
          </p:nvSpPr>
          <p:spPr>
            <a:xfrm>
              <a:off x="1190625" y="193738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088563" y="1629213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14"/>
          <p:cNvGrpSpPr/>
          <p:nvPr/>
        </p:nvGrpSpPr>
        <p:grpSpPr>
          <a:xfrm>
            <a:off x="7697851" y="8899998"/>
            <a:ext cx="740589" cy="740589"/>
            <a:chOff x="1190625" y="238125"/>
            <a:chExt cx="5186200" cy="5186200"/>
          </a:xfrm>
        </p:grpSpPr>
        <p:sp>
          <p:nvSpPr>
            <p:cNvPr id="269" name="Google Shape;269;p14"/>
            <p:cNvSpPr/>
            <p:nvPr/>
          </p:nvSpPr>
          <p:spPr>
            <a:xfrm>
              <a:off x="1190625" y="238125"/>
              <a:ext cx="5186200" cy="518620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2761650" y="1809150"/>
              <a:ext cx="2137575" cy="2178450"/>
            </a:xfrm>
            <a:custGeom>
              <a:avLst/>
              <a:gdLst/>
              <a:ahLst/>
              <a:cxnLst/>
              <a:rect l="l" t="t" r="r" b="b"/>
              <a:pathLst>
                <a:path w="85503" h="87138" extrusionOk="0">
                  <a:moveTo>
                    <a:pt x="50928" y="25698"/>
                  </a:moveTo>
                  <a:lnTo>
                    <a:pt x="50694" y="27567"/>
                  </a:lnTo>
                  <a:cubicBezTo>
                    <a:pt x="48125" y="25464"/>
                    <a:pt x="45088" y="24530"/>
                    <a:pt x="41350" y="24530"/>
                  </a:cubicBezTo>
                  <a:cubicBezTo>
                    <a:pt x="31772" y="24530"/>
                    <a:pt x="23362" y="32473"/>
                    <a:pt x="22194" y="42284"/>
                  </a:cubicBezTo>
                  <a:cubicBezTo>
                    <a:pt x="21026" y="52330"/>
                    <a:pt x="27333" y="61207"/>
                    <a:pt x="38079" y="61207"/>
                  </a:cubicBezTo>
                  <a:cubicBezTo>
                    <a:pt x="42752" y="61207"/>
                    <a:pt x="47190" y="59104"/>
                    <a:pt x="50227" y="56535"/>
                  </a:cubicBezTo>
                  <a:cubicBezTo>
                    <a:pt x="52330" y="60039"/>
                    <a:pt x="56535" y="64010"/>
                    <a:pt x="63543" y="64010"/>
                  </a:cubicBezTo>
                  <a:cubicBezTo>
                    <a:pt x="76859" y="64010"/>
                    <a:pt x="85503" y="53264"/>
                    <a:pt x="85503" y="39948"/>
                  </a:cubicBezTo>
                  <a:cubicBezTo>
                    <a:pt x="85503" y="17989"/>
                    <a:pt x="66346" y="1"/>
                    <a:pt x="43452" y="1"/>
                  </a:cubicBezTo>
                  <a:cubicBezTo>
                    <a:pt x="18690" y="1"/>
                    <a:pt x="1" y="19390"/>
                    <a:pt x="1" y="43452"/>
                  </a:cubicBezTo>
                  <a:cubicBezTo>
                    <a:pt x="1" y="67515"/>
                    <a:pt x="18690" y="86437"/>
                    <a:pt x="42752" y="86904"/>
                  </a:cubicBezTo>
                  <a:cubicBezTo>
                    <a:pt x="49293" y="87138"/>
                    <a:pt x="57703" y="85269"/>
                    <a:pt x="62375" y="82232"/>
                  </a:cubicBezTo>
                  <a:lnTo>
                    <a:pt x="63543" y="81765"/>
                  </a:lnTo>
                  <a:lnTo>
                    <a:pt x="58170" y="71019"/>
                  </a:lnTo>
                  <a:lnTo>
                    <a:pt x="57002" y="71720"/>
                  </a:lnTo>
                  <a:cubicBezTo>
                    <a:pt x="53731" y="73355"/>
                    <a:pt x="48826" y="74523"/>
                    <a:pt x="42752" y="74523"/>
                  </a:cubicBezTo>
                  <a:cubicBezTo>
                    <a:pt x="25698" y="74523"/>
                    <a:pt x="12382" y="60740"/>
                    <a:pt x="12382" y="43452"/>
                  </a:cubicBezTo>
                  <a:cubicBezTo>
                    <a:pt x="12382" y="26399"/>
                    <a:pt x="25698" y="12382"/>
                    <a:pt x="43452" y="12382"/>
                  </a:cubicBezTo>
                  <a:cubicBezTo>
                    <a:pt x="60039" y="12382"/>
                    <a:pt x="73121" y="24530"/>
                    <a:pt x="73121" y="39948"/>
                  </a:cubicBezTo>
                  <a:cubicBezTo>
                    <a:pt x="73121" y="44854"/>
                    <a:pt x="71720" y="47657"/>
                    <a:pt x="69851" y="49293"/>
                  </a:cubicBezTo>
                  <a:cubicBezTo>
                    <a:pt x="68215" y="50928"/>
                    <a:pt x="66113" y="51629"/>
                    <a:pt x="64711" y="51629"/>
                  </a:cubicBezTo>
                  <a:cubicBezTo>
                    <a:pt x="63076" y="51629"/>
                    <a:pt x="61674" y="50928"/>
                    <a:pt x="60973" y="50227"/>
                  </a:cubicBezTo>
                  <a:cubicBezTo>
                    <a:pt x="60273" y="49293"/>
                    <a:pt x="59805" y="48125"/>
                    <a:pt x="60039" y="46256"/>
                  </a:cubicBezTo>
                  <a:lnTo>
                    <a:pt x="62609" y="25698"/>
                  </a:lnTo>
                  <a:close/>
                  <a:moveTo>
                    <a:pt x="40416" y="50227"/>
                  </a:moveTo>
                  <a:cubicBezTo>
                    <a:pt x="44621" y="50227"/>
                    <a:pt x="47658" y="46957"/>
                    <a:pt x="48358" y="42752"/>
                  </a:cubicBezTo>
                  <a:cubicBezTo>
                    <a:pt x="48826" y="38780"/>
                    <a:pt x="46256" y="35510"/>
                    <a:pt x="42518" y="35510"/>
                  </a:cubicBezTo>
                  <a:cubicBezTo>
                    <a:pt x="38079" y="35510"/>
                    <a:pt x="34809" y="39014"/>
                    <a:pt x="34342" y="42985"/>
                  </a:cubicBezTo>
                  <a:lnTo>
                    <a:pt x="34342" y="42985"/>
                  </a:lnTo>
                  <a:lnTo>
                    <a:pt x="34342" y="43219"/>
                  </a:lnTo>
                  <a:cubicBezTo>
                    <a:pt x="33874" y="46957"/>
                    <a:pt x="36444" y="50227"/>
                    <a:pt x="40416" y="50227"/>
                  </a:cubicBez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14"/>
          <p:cNvGrpSpPr/>
          <p:nvPr/>
        </p:nvGrpSpPr>
        <p:grpSpPr>
          <a:xfrm>
            <a:off x="17477600" y="9375471"/>
            <a:ext cx="517076" cy="530659"/>
            <a:chOff x="238125" y="2432825"/>
            <a:chExt cx="779550" cy="781875"/>
          </a:xfrm>
        </p:grpSpPr>
        <p:sp>
          <p:nvSpPr>
            <p:cNvPr id="272" name="Google Shape;272;p14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Финальный слайд 2">
  <p:cSld name="CUSTOM_3_1_1_2_1_3_1">
    <p:bg>
      <p:bgPr>
        <a:solidFill>
          <a:srgbClr val="4BD0A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5"/>
          <p:cNvGrpSpPr/>
          <p:nvPr/>
        </p:nvGrpSpPr>
        <p:grpSpPr>
          <a:xfrm>
            <a:off x="3949200" y="723900"/>
            <a:ext cx="19133275" cy="9563100"/>
            <a:chOff x="3949200" y="723900"/>
            <a:chExt cx="19133275" cy="9563100"/>
          </a:xfrm>
        </p:grpSpPr>
        <p:sp>
          <p:nvSpPr>
            <p:cNvPr id="278" name="Google Shape;278;p15"/>
            <p:cNvSpPr/>
            <p:nvPr/>
          </p:nvSpPr>
          <p:spPr>
            <a:xfrm>
              <a:off x="13519375" y="723900"/>
              <a:ext cx="9563100" cy="9563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949200" y="723900"/>
              <a:ext cx="9563100" cy="9563100"/>
            </a:xfrm>
            <a:prstGeom prst="ellipse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" name="Google Shape;280;p15"/>
          <p:cNvSpPr txBox="1">
            <a:spLocks noGrp="1"/>
          </p:cNvSpPr>
          <p:nvPr>
            <p:ph type="subTitle" idx="1"/>
          </p:nvPr>
        </p:nvSpPr>
        <p:spPr>
          <a:xfrm>
            <a:off x="1299900" y="5928725"/>
            <a:ext cx="3557100" cy="732000"/>
          </a:xfrm>
          <a:prstGeom prst="rect">
            <a:avLst/>
          </a:prstGeom>
        </p:spPr>
        <p:txBody>
          <a:bodyPr spcFirstLastPara="1" wrap="square" lIns="180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81" name="Google Shape;281;p15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282" name="Google Shape;282;p1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" name="Google Shape;286;p15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2862800" cy="49464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287" name="Google Shape;287;p15"/>
          <p:cNvGrpSpPr/>
          <p:nvPr/>
        </p:nvGrpSpPr>
        <p:grpSpPr>
          <a:xfrm>
            <a:off x="17477600" y="9375471"/>
            <a:ext cx="517076" cy="530659"/>
            <a:chOff x="238125" y="2432825"/>
            <a:chExt cx="779550" cy="781875"/>
          </a:xfrm>
        </p:grpSpPr>
        <p:sp>
          <p:nvSpPr>
            <p:cNvPr id="288" name="Google Shape;288;p1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5"/>
          <p:cNvGrpSpPr/>
          <p:nvPr/>
        </p:nvGrpSpPr>
        <p:grpSpPr>
          <a:xfrm>
            <a:off x="551795" y="6913222"/>
            <a:ext cx="748625" cy="748625"/>
            <a:chOff x="1190625" y="193738"/>
            <a:chExt cx="4905800" cy="4905800"/>
          </a:xfrm>
        </p:grpSpPr>
        <p:sp>
          <p:nvSpPr>
            <p:cNvPr id="293" name="Google Shape;293;p15"/>
            <p:cNvSpPr/>
            <p:nvPr/>
          </p:nvSpPr>
          <p:spPr>
            <a:xfrm>
              <a:off x="1190625" y="193738"/>
              <a:ext cx="4905800" cy="4905800"/>
            </a:xfrm>
            <a:custGeom>
              <a:avLst/>
              <a:gdLst/>
              <a:ahLst/>
              <a:cxnLst/>
              <a:rect l="l" t="t" r="r" b="b"/>
              <a:pathLst>
                <a:path w="196232" h="196232" extrusionOk="0">
                  <a:moveTo>
                    <a:pt x="97968" y="0"/>
                  </a:moveTo>
                  <a:cubicBezTo>
                    <a:pt x="43804" y="0"/>
                    <a:pt x="0" y="43804"/>
                    <a:pt x="0" y="97968"/>
                  </a:cubicBezTo>
                  <a:cubicBezTo>
                    <a:pt x="0" y="152131"/>
                    <a:pt x="43804" y="196231"/>
                    <a:pt x="97968" y="196231"/>
                  </a:cubicBezTo>
                  <a:cubicBezTo>
                    <a:pt x="152131" y="196231"/>
                    <a:pt x="196231" y="152131"/>
                    <a:pt x="196231" y="97968"/>
                  </a:cubicBezTo>
                  <a:cubicBezTo>
                    <a:pt x="195935" y="43804"/>
                    <a:pt x="152131" y="0"/>
                    <a:pt x="979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088563" y="1629213"/>
              <a:ext cx="1109925" cy="2034850"/>
            </a:xfrm>
            <a:custGeom>
              <a:avLst/>
              <a:gdLst/>
              <a:ahLst/>
              <a:cxnLst/>
              <a:rect l="l" t="t" r="r" b="b"/>
              <a:pathLst>
                <a:path w="44397" h="81394" extrusionOk="0">
                  <a:moveTo>
                    <a:pt x="32262" y="0"/>
                  </a:moveTo>
                  <a:cubicBezTo>
                    <a:pt x="20719" y="0"/>
                    <a:pt x="12431" y="6512"/>
                    <a:pt x="12431" y="18943"/>
                  </a:cubicBezTo>
                  <a:lnTo>
                    <a:pt x="12431" y="30486"/>
                  </a:lnTo>
                  <a:lnTo>
                    <a:pt x="0" y="30486"/>
                  </a:lnTo>
                  <a:lnTo>
                    <a:pt x="0" y="46764"/>
                  </a:lnTo>
                  <a:lnTo>
                    <a:pt x="12431" y="46764"/>
                  </a:lnTo>
                  <a:lnTo>
                    <a:pt x="12431" y="81393"/>
                  </a:lnTo>
                  <a:lnTo>
                    <a:pt x="29598" y="81393"/>
                  </a:lnTo>
                  <a:lnTo>
                    <a:pt x="29598" y="46764"/>
                  </a:lnTo>
                  <a:lnTo>
                    <a:pt x="39957" y="46764"/>
                  </a:lnTo>
                  <a:lnTo>
                    <a:pt x="44397" y="30486"/>
                  </a:lnTo>
                  <a:lnTo>
                    <a:pt x="29598" y="30486"/>
                  </a:lnTo>
                  <a:lnTo>
                    <a:pt x="29598" y="22198"/>
                  </a:lnTo>
                  <a:cubicBezTo>
                    <a:pt x="29598" y="18055"/>
                    <a:pt x="29598" y="14207"/>
                    <a:pt x="37885" y="14207"/>
                  </a:cubicBezTo>
                  <a:lnTo>
                    <a:pt x="44397" y="14207"/>
                  </a:lnTo>
                  <a:lnTo>
                    <a:pt x="44397" y="296"/>
                  </a:lnTo>
                  <a:cubicBezTo>
                    <a:pt x="42917" y="296"/>
                    <a:pt x="37589" y="0"/>
                    <a:pt x="322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295" name="Google Shape;295;p15"/>
          <p:cNvGrpSpPr/>
          <p:nvPr/>
        </p:nvGrpSpPr>
        <p:grpSpPr>
          <a:xfrm>
            <a:off x="551117" y="5925589"/>
            <a:ext cx="748772" cy="748772"/>
            <a:chOff x="7019517" y="8956750"/>
            <a:chExt cx="684060" cy="684060"/>
          </a:xfrm>
        </p:grpSpPr>
        <p:sp>
          <p:nvSpPr>
            <p:cNvPr id="296" name="Google Shape;296;p15"/>
            <p:cNvSpPr/>
            <p:nvPr/>
          </p:nvSpPr>
          <p:spPr>
            <a:xfrm>
              <a:off x="7019517" y="8956750"/>
              <a:ext cx="684060" cy="684060"/>
            </a:xfrm>
            <a:custGeom>
              <a:avLst/>
              <a:gdLst/>
              <a:ahLst/>
              <a:cxnLst/>
              <a:rect l="l" t="t" r="r" b="b"/>
              <a:pathLst>
                <a:path w="207448" h="207448" extrusionOk="0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7226735" y="9163968"/>
              <a:ext cx="281946" cy="287338"/>
            </a:xfrm>
            <a:custGeom>
              <a:avLst/>
              <a:gdLst/>
              <a:ahLst/>
              <a:cxnLst/>
              <a:rect l="l" t="t" r="r" b="b"/>
              <a:pathLst>
                <a:path w="85503" h="87138" extrusionOk="0">
                  <a:moveTo>
                    <a:pt x="50928" y="25698"/>
                  </a:moveTo>
                  <a:lnTo>
                    <a:pt x="50694" y="27567"/>
                  </a:lnTo>
                  <a:cubicBezTo>
                    <a:pt x="48125" y="25464"/>
                    <a:pt x="45088" y="24530"/>
                    <a:pt x="41350" y="24530"/>
                  </a:cubicBezTo>
                  <a:cubicBezTo>
                    <a:pt x="31772" y="24530"/>
                    <a:pt x="23362" y="32473"/>
                    <a:pt x="22194" y="42284"/>
                  </a:cubicBezTo>
                  <a:cubicBezTo>
                    <a:pt x="21026" y="52330"/>
                    <a:pt x="27333" y="61207"/>
                    <a:pt x="38079" y="61207"/>
                  </a:cubicBezTo>
                  <a:cubicBezTo>
                    <a:pt x="42752" y="61207"/>
                    <a:pt x="47190" y="59104"/>
                    <a:pt x="50227" y="56535"/>
                  </a:cubicBezTo>
                  <a:cubicBezTo>
                    <a:pt x="52330" y="60039"/>
                    <a:pt x="56535" y="64010"/>
                    <a:pt x="63543" y="64010"/>
                  </a:cubicBezTo>
                  <a:cubicBezTo>
                    <a:pt x="76859" y="64010"/>
                    <a:pt x="85503" y="53264"/>
                    <a:pt x="85503" y="39948"/>
                  </a:cubicBezTo>
                  <a:cubicBezTo>
                    <a:pt x="85503" y="17989"/>
                    <a:pt x="66346" y="1"/>
                    <a:pt x="43452" y="1"/>
                  </a:cubicBezTo>
                  <a:cubicBezTo>
                    <a:pt x="18690" y="1"/>
                    <a:pt x="1" y="19390"/>
                    <a:pt x="1" y="43452"/>
                  </a:cubicBezTo>
                  <a:cubicBezTo>
                    <a:pt x="1" y="67515"/>
                    <a:pt x="18690" y="86437"/>
                    <a:pt x="42752" y="86904"/>
                  </a:cubicBezTo>
                  <a:cubicBezTo>
                    <a:pt x="49293" y="87138"/>
                    <a:pt x="57703" y="85269"/>
                    <a:pt x="62375" y="82232"/>
                  </a:cubicBezTo>
                  <a:lnTo>
                    <a:pt x="63543" y="81765"/>
                  </a:lnTo>
                  <a:lnTo>
                    <a:pt x="58170" y="71019"/>
                  </a:lnTo>
                  <a:lnTo>
                    <a:pt x="57002" y="71720"/>
                  </a:lnTo>
                  <a:cubicBezTo>
                    <a:pt x="53731" y="73355"/>
                    <a:pt x="48826" y="74523"/>
                    <a:pt x="42752" y="74523"/>
                  </a:cubicBezTo>
                  <a:cubicBezTo>
                    <a:pt x="25698" y="74523"/>
                    <a:pt x="12382" y="60740"/>
                    <a:pt x="12382" y="43452"/>
                  </a:cubicBezTo>
                  <a:cubicBezTo>
                    <a:pt x="12382" y="26399"/>
                    <a:pt x="25698" y="12382"/>
                    <a:pt x="43452" y="12382"/>
                  </a:cubicBezTo>
                  <a:cubicBezTo>
                    <a:pt x="60039" y="12382"/>
                    <a:pt x="73121" y="24530"/>
                    <a:pt x="73121" y="39948"/>
                  </a:cubicBezTo>
                  <a:cubicBezTo>
                    <a:pt x="73121" y="44854"/>
                    <a:pt x="71720" y="47657"/>
                    <a:pt x="69851" y="49293"/>
                  </a:cubicBezTo>
                  <a:cubicBezTo>
                    <a:pt x="68215" y="50928"/>
                    <a:pt x="66113" y="51629"/>
                    <a:pt x="64711" y="51629"/>
                  </a:cubicBezTo>
                  <a:cubicBezTo>
                    <a:pt x="63076" y="51629"/>
                    <a:pt x="61674" y="50928"/>
                    <a:pt x="60973" y="50227"/>
                  </a:cubicBezTo>
                  <a:cubicBezTo>
                    <a:pt x="60273" y="49293"/>
                    <a:pt x="59805" y="48125"/>
                    <a:pt x="60039" y="46256"/>
                  </a:cubicBezTo>
                  <a:lnTo>
                    <a:pt x="62609" y="25698"/>
                  </a:lnTo>
                  <a:close/>
                  <a:moveTo>
                    <a:pt x="40416" y="50227"/>
                  </a:moveTo>
                  <a:cubicBezTo>
                    <a:pt x="44621" y="50227"/>
                    <a:pt x="47658" y="46957"/>
                    <a:pt x="48358" y="42752"/>
                  </a:cubicBezTo>
                  <a:cubicBezTo>
                    <a:pt x="48826" y="38780"/>
                    <a:pt x="46256" y="35510"/>
                    <a:pt x="42518" y="35510"/>
                  </a:cubicBezTo>
                  <a:cubicBezTo>
                    <a:pt x="38079" y="35510"/>
                    <a:pt x="34809" y="39014"/>
                    <a:pt x="34342" y="42985"/>
                  </a:cubicBezTo>
                  <a:lnTo>
                    <a:pt x="34342" y="42985"/>
                  </a:lnTo>
                  <a:lnTo>
                    <a:pt x="34342" y="43219"/>
                  </a:lnTo>
                  <a:cubicBezTo>
                    <a:pt x="33874" y="46957"/>
                    <a:pt x="36444" y="50227"/>
                    <a:pt x="40416" y="502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98" name="Google Shape;298;p15"/>
          <p:cNvSpPr txBox="1">
            <a:spLocks noGrp="1"/>
          </p:cNvSpPr>
          <p:nvPr>
            <p:ph type="subTitle" idx="2"/>
          </p:nvPr>
        </p:nvSpPr>
        <p:spPr>
          <a:xfrm>
            <a:off x="1299750" y="6919200"/>
            <a:ext cx="3557100" cy="732000"/>
          </a:xfrm>
          <a:prstGeom prst="rect">
            <a:avLst/>
          </a:prstGeom>
        </p:spPr>
        <p:txBody>
          <a:bodyPr spcFirstLastPara="1" wrap="square" lIns="180000" tIns="2160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3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">
  <p:cSld name="CUSTOM_3_1_1_2_1_2">
    <p:bg>
      <p:bgPr>
        <a:solidFill>
          <a:srgbClr val="4BD0A0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6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02" name="Google Shape;302;p1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" name="Google Shape;306;p16"/>
          <p:cNvSpPr/>
          <p:nvPr/>
        </p:nvSpPr>
        <p:spPr>
          <a:xfrm>
            <a:off x="10346800" y="-6938"/>
            <a:ext cx="7941300" cy="788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8673450" y="6519300"/>
            <a:ext cx="3765600" cy="37662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6"/>
          <p:cNvSpPr txBox="1">
            <a:spLocks noGrp="1"/>
          </p:cNvSpPr>
          <p:nvPr>
            <p:ph type="subTitle" idx="1"/>
          </p:nvPr>
        </p:nvSpPr>
        <p:spPr>
          <a:xfrm>
            <a:off x="9144000" y="7644600"/>
            <a:ext cx="2841600" cy="14994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Proxima Nova Semibold"/>
              <a:buNone/>
              <a:defRPr sz="9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9" name="Google Shape;309;p16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2862800" cy="47016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2">
  <p:cSld name="CUSTOM_3_1_1_2_1_2_1">
    <p:bg>
      <p:bgPr>
        <a:solidFill>
          <a:srgbClr val="4BD0A0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13360413" y="3981995"/>
            <a:ext cx="5654700" cy="5654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7704086" y="3960625"/>
            <a:ext cx="5654700" cy="5654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3" name="Google Shape;313;p17"/>
          <p:cNvSpPr txBox="1">
            <a:spLocks noGrp="1"/>
          </p:cNvSpPr>
          <p:nvPr>
            <p:ph type="subTitle" idx="1"/>
          </p:nvPr>
        </p:nvSpPr>
        <p:spPr>
          <a:xfrm>
            <a:off x="7704075" y="5436000"/>
            <a:ext cx="5710500" cy="2721600"/>
          </a:xfrm>
          <a:prstGeom prst="rect">
            <a:avLst/>
          </a:prstGeom>
        </p:spPr>
        <p:txBody>
          <a:bodyPr spcFirstLastPara="1" wrap="square" lIns="0" tIns="576000" rIns="91425" bIns="0" anchor="t" anchorCtr="0">
            <a:noAutofit/>
          </a:bodyPr>
          <a:lstStyle>
            <a:lvl1pPr lvl="0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Proxima Nova Semibold"/>
              <a:buNone/>
              <a:defRPr sz="96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5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14" name="Google Shape;314;p17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15" name="Google Shape;315;p1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17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1">
  <p:cSld name="CUSTOM_3_1_1_2_1_2_1_1">
    <p:bg>
      <p:bgPr>
        <a:solidFill>
          <a:srgbClr val="4BD0A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96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5" name="Google Shape;325;p18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26" name="Google Shape;326;p18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18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2">
  <p:cSld name="CUSTOM_3_1_1_2_1_2_1_1_1">
    <p:bg>
      <p:bgPr>
        <a:solidFill>
          <a:srgbClr val="4BD0A0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96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36" name="Google Shape;336;p19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37" name="Google Shape;337;p1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19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3">
  <p:cSld name="CUSTOM_3_1_1_2_1_2_1_1_1_1">
    <p:bg>
      <p:bgPr>
        <a:solidFill>
          <a:srgbClr val="4BD0A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9143693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96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" name="Google Shape;347;p20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48" name="Google Shape;348;p2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20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33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раздел 3_4">
  <p:cSld name="CUSTOM_3_1_1_2_1_2_1_1_1_1_1">
    <p:bg>
      <p:bgPr>
        <a:solidFill>
          <a:srgbClr val="4BD0A0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/>
          <p:nvPr/>
        </p:nvSpPr>
        <p:spPr>
          <a:xfrm>
            <a:off x="0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4572000" y="5068962"/>
            <a:ext cx="4571700" cy="45717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9143868" y="5068812"/>
            <a:ext cx="4572000" cy="4572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13715978" y="5068812"/>
            <a:ext cx="4572000" cy="457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96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58" name="Google Shape;358;p21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59" name="Google Shape;359;p2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4292000" cy="42120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с изображением">
  <p:cSld name="CUSTOM_3_1_1_2_1_1">
    <p:bg>
      <p:bgPr>
        <a:solidFill>
          <a:srgbClr val="4BD0A0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9144000" y="496800"/>
            <a:ext cx="8413500" cy="841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9602760" y="1260000"/>
            <a:ext cx="8365800" cy="8365500"/>
          </a:xfrm>
          <a:prstGeom prst="ellipse">
            <a:avLst/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10812150" y="5060725"/>
            <a:ext cx="54609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Область для круглой фотографии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Proxima Nova"/>
                <a:ea typeface="Proxima Nova"/>
                <a:cs typeface="Proxima Nova"/>
                <a:sym typeface="Proxima Nova"/>
              </a:rPr>
              <a:t>(изображение должно накрывать пунктирный радиус)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68" name="Google Shape;368;p22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69" name="Google Shape;369;p2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3" name="Google Shape;373;p22"/>
          <p:cNvSpPr txBox="1">
            <a:spLocks noGrp="1"/>
          </p:cNvSpPr>
          <p:nvPr>
            <p:ph type="title"/>
          </p:nvPr>
        </p:nvSpPr>
        <p:spPr>
          <a:xfrm>
            <a:off x="551850" y="489600"/>
            <a:ext cx="10004400" cy="4701600"/>
          </a:xfrm>
          <a:prstGeom prst="rect">
            <a:avLst/>
          </a:prstGeom>
        </p:spPr>
        <p:txBody>
          <a:bodyPr spcFirstLastPara="1" wrap="square" lIns="0" tIns="3600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18773050" y="733450"/>
            <a:ext cx="4575600" cy="6927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126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Поместите квадратное изображение на слайд, затем с помощью инструмента </a:t>
            </a:r>
            <a:r>
              <a:rPr lang="ru" b="1"/>
              <a:t>Обрезка</a:t>
            </a:r>
            <a:r>
              <a:rPr lang="ru"/>
              <a:t> выберете обрезку с помощью овала.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/>
            </a:r>
            <a:br>
              <a:rPr lang="ru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Переместите изображение в 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«</a:t>
            </a:r>
            <a:r>
              <a:rPr lang="ru">
                <a:solidFill>
                  <a:schemeClr val="dk1"/>
                </a:solidFill>
              </a:rPr>
              <a:t>область для фотографии</a:t>
            </a:r>
            <a:r>
              <a:rPr lang="ru" sz="1050">
                <a:solidFill>
                  <a:srgbClr val="222222"/>
                </a:solidFill>
                <a:highlight>
                  <a:srgbClr val="FFFFFF"/>
                </a:highlight>
              </a:rPr>
              <a:t>»‎</a:t>
            </a:r>
            <a:r>
              <a:rPr lang="ru"/>
              <a:t> и подберите его размер, чтобы оно закрывало собой пунктирную линию.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Пример:</a:t>
            </a:r>
            <a:endParaRPr/>
          </a:p>
        </p:txBody>
      </p:sp>
      <p:pic>
        <p:nvPicPr>
          <p:cNvPr id="375" name="Google Shape;37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44076" y="5191200"/>
            <a:ext cx="4104925" cy="2302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4068" y="1635878"/>
            <a:ext cx="4104935" cy="19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/>
          <p:nvPr/>
        </p:nvSpPr>
        <p:spPr>
          <a:xfrm>
            <a:off x="18773050" y="-27500"/>
            <a:ext cx="517200" cy="517200"/>
          </a:xfrm>
          <a:prstGeom prst="ellipse">
            <a:avLst/>
          </a:prstGeom>
          <a:solidFill>
            <a:srgbClr val="4BD0A0"/>
          </a:solidFill>
          <a:ln w="28575" cap="flat" cmpd="sng">
            <a:solidFill>
              <a:srgbClr val="4BD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8" name="Google Shape;378;p22"/>
          <p:cNvSpPr txBox="1">
            <a:spLocks noGrp="1"/>
          </p:cNvSpPr>
          <p:nvPr>
            <p:ph type="subTitle" idx="1"/>
          </p:nvPr>
        </p:nvSpPr>
        <p:spPr>
          <a:xfrm>
            <a:off x="540000" y="8157600"/>
            <a:ext cx="5728500" cy="148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1 Зелёный">
  <p:cSld name="CUSTOM_3_1_1_2_1_1_1">
    <p:bg>
      <p:bgPr>
        <a:solidFill>
          <a:srgbClr val="4BD0A0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381" name="Google Shape;381;p2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8">
          <p15:clr>
            <a:srgbClr val="0000FF"/>
          </p15:clr>
        </p15:guide>
        <p15:guide id="2" orient="horz" pos="463">
          <p15:clr>
            <a:srgbClr val="FA7B17"/>
          </p15:clr>
        </p15:guide>
        <p15:guide id="3" orient="horz" pos="617">
          <p15:clr>
            <a:srgbClr val="FA7B17"/>
          </p15:clr>
        </p15:guide>
        <p15:guide id="4" orient="horz" pos="771">
          <p15:clr>
            <a:srgbClr val="FA7B17"/>
          </p15:clr>
        </p15:guide>
        <p15:guide id="5" orient="horz" pos="925">
          <p15:clr>
            <a:srgbClr val="FA7B17"/>
          </p15:clr>
        </p15:guide>
        <p15:guide id="6" orient="horz" pos="1079">
          <p15:clr>
            <a:srgbClr val="FA7B17"/>
          </p15:clr>
        </p15:guide>
        <p15:guide id="7" orient="horz" pos="1243">
          <p15:clr>
            <a:srgbClr val="FA7B17"/>
          </p15:clr>
        </p15:guide>
        <p15:guide id="8" orient="horz" pos="1397">
          <p15:clr>
            <a:srgbClr val="FA7B17"/>
          </p15:clr>
        </p15:guide>
        <p15:guide id="9" orient="horz" pos="1551">
          <p15:clr>
            <a:srgbClr val="FA7B17"/>
          </p15:clr>
        </p15:guide>
        <p15:guide id="10" orient="horz" pos="1705">
          <p15:clr>
            <a:srgbClr val="FA7B17"/>
          </p15:clr>
        </p15:guide>
        <p15:guide id="11" orient="horz" pos="1860">
          <p15:clr>
            <a:srgbClr val="FA7B17"/>
          </p15:clr>
        </p15:guide>
        <p15:guide id="12" orient="horz" pos="2014">
          <p15:clr>
            <a:srgbClr val="FA7B17"/>
          </p15:clr>
        </p15:guide>
        <p15:guide id="13" orient="horz" pos="2175">
          <p15:clr>
            <a:srgbClr val="FA7B17"/>
          </p15:clr>
        </p15:guide>
        <p15:guide id="14" orient="horz" pos="2329">
          <p15:clr>
            <a:srgbClr val="FA7B17"/>
          </p15:clr>
        </p15:guide>
        <p15:guide id="15" orient="horz" pos="2490">
          <p15:clr>
            <a:srgbClr val="FA7B17"/>
          </p15:clr>
        </p15:guide>
        <p15:guide id="16" orient="horz" pos="2644">
          <p15:clr>
            <a:srgbClr val="FA7B17"/>
          </p15:clr>
        </p15:guide>
        <p15:guide id="17" orient="horz" pos="2798">
          <p15:clr>
            <a:srgbClr val="FA7B17"/>
          </p15:clr>
        </p15:guide>
        <p15:guide id="18" orient="horz" pos="2962">
          <p15:clr>
            <a:srgbClr val="FA7B17"/>
          </p15:clr>
        </p15:guide>
        <p15:guide id="19" orient="horz" pos="3116">
          <p15:clr>
            <a:srgbClr val="FA7B17"/>
          </p15:clr>
        </p15:guide>
        <p15:guide id="20" orient="horz" pos="3270">
          <p15:clr>
            <a:srgbClr val="FA7B17"/>
          </p15:clr>
        </p15:guide>
        <p15:guide id="21" orient="horz" pos="3424">
          <p15:clr>
            <a:srgbClr val="FA7B17"/>
          </p15:clr>
        </p15:guide>
        <p15:guide id="22" orient="horz" pos="3578">
          <p15:clr>
            <a:srgbClr val="FA7B17"/>
          </p15:clr>
        </p15:guide>
        <p15:guide id="23" orient="horz" pos="3733">
          <p15:clr>
            <a:srgbClr val="FA7B17"/>
          </p15:clr>
        </p15:guide>
        <p15:guide id="24" orient="horz" pos="3891">
          <p15:clr>
            <a:srgbClr val="FA7B17"/>
          </p15:clr>
        </p15:guide>
        <p15:guide id="25" orient="horz" pos="4046">
          <p15:clr>
            <a:srgbClr val="FA7B17"/>
          </p15:clr>
        </p15:guide>
        <p15:guide id="26" orient="horz" pos="4200">
          <p15:clr>
            <a:srgbClr val="FA7B17"/>
          </p15:clr>
        </p15:guide>
        <p15:guide id="27" orient="horz" pos="4354">
          <p15:clr>
            <a:srgbClr val="FA7B17"/>
          </p15:clr>
        </p15:guide>
        <p15:guide id="28" orient="horz" pos="4513">
          <p15:clr>
            <a:srgbClr val="FA7B17"/>
          </p15:clr>
        </p15:guide>
        <p15:guide id="29" orient="horz" pos="4671">
          <p15:clr>
            <a:srgbClr val="FA7B17"/>
          </p15:clr>
        </p15:guide>
        <p15:guide id="30" orient="horz" pos="4826">
          <p15:clr>
            <a:srgbClr val="FA7B17"/>
          </p15:clr>
        </p15:guide>
        <p15:guide id="31" orient="horz" pos="4980">
          <p15:clr>
            <a:srgbClr val="FA7B17"/>
          </p15:clr>
        </p15:guide>
        <p15:guide id="32" orient="horz" pos="5139">
          <p15:clr>
            <a:srgbClr val="FA7B17"/>
          </p15:clr>
        </p15:guide>
        <p15:guide id="33" orient="horz" pos="5293">
          <p15:clr>
            <a:srgbClr val="FA7B17"/>
          </p15:clr>
        </p15:guide>
        <p15:guide id="34" orient="horz" pos="5452">
          <p15:clr>
            <a:srgbClr val="FA7B17"/>
          </p15:clr>
        </p15:guide>
        <p15:guide id="35" orient="horz" pos="5606">
          <p15:clr>
            <a:srgbClr val="FA7B17"/>
          </p15:clr>
        </p15:guide>
        <p15:guide id="36" orient="horz" pos="5760">
          <p15:clr>
            <a:srgbClr val="FA7B17"/>
          </p15:clr>
        </p15:guide>
        <p15:guide id="37" orient="horz" pos="5919">
          <p15:clr>
            <a:srgbClr val="FA7B17"/>
          </p15:clr>
        </p15:guide>
        <p15:guide id="38" orient="horz" pos="6073">
          <p15:clr>
            <a:srgbClr val="0000FF"/>
          </p15:clr>
        </p15:guide>
        <p15:guide id="39" pos="348">
          <p15:clr>
            <a:srgbClr val="0000FF"/>
          </p15:clr>
        </p15:guide>
        <p15:guide id="40" pos="1248">
          <p15:clr>
            <a:srgbClr val="0000FF"/>
          </p15:clr>
        </p15:guide>
        <p15:guide id="41" pos="2148">
          <p15:clr>
            <a:srgbClr val="0000FF"/>
          </p15:clr>
        </p15:guide>
        <p15:guide id="42" pos="3059">
          <p15:clr>
            <a:srgbClr val="0000FF"/>
          </p15:clr>
        </p15:guide>
        <p15:guide id="43" pos="3949">
          <p15:clr>
            <a:srgbClr val="0000FF"/>
          </p15:clr>
        </p15:guide>
        <p15:guide id="44" pos="4849">
          <p15:clr>
            <a:srgbClr val="0000FF"/>
          </p15:clr>
        </p15:guide>
        <p15:guide id="45" pos="5760">
          <p15:clr>
            <a:srgbClr val="0000FF"/>
          </p15:clr>
        </p15:guide>
        <p15:guide id="46" pos="6650">
          <p15:clr>
            <a:srgbClr val="0000FF"/>
          </p15:clr>
        </p15:guide>
        <p15:guide id="47" pos="7550">
          <p15:clr>
            <a:srgbClr val="0000FF"/>
          </p15:clr>
        </p15:guide>
        <p15:guide id="48" pos="8450">
          <p15:clr>
            <a:srgbClr val="0000FF"/>
          </p15:clr>
        </p15:guide>
        <p15:guide id="49" pos="9350">
          <p15:clr>
            <a:srgbClr val="0000FF"/>
          </p15:clr>
        </p15:guide>
        <p15:guide id="50" pos="10251">
          <p15:clr>
            <a:srgbClr val="0000FF"/>
          </p15:clr>
        </p15:guide>
        <p15:guide id="51" pos="11172">
          <p15:clr>
            <a:srgbClr val="0000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Proxima Nova"/>
              <a:buNone/>
              <a:defRPr sz="5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Char char="●"/>
              <a:defRPr sz="36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○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■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○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■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○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■"/>
              <a:defRPr sz="2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aultimothymooney/chest-xray-pneumoni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/>
          <p:nvPr/>
        </p:nvSpPr>
        <p:spPr>
          <a:xfrm>
            <a:off x="14425075" y="723900"/>
            <a:ext cx="9563100" cy="9563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53"/>
          <p:cNvSpPr/>
          <p:nvPr/>
        </p:nvSpPr>
        <p:spPr>
          <a:xfrm>
            <a:off x="4854900" y="723900"/>
            <a:ext cx="9563100" cy="95631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53"/>
          <p:cNvSpPr txBox="1"/>
          <p:nvPr/>
        </p:nvSpPr>
        <p:spPr>
          <a:xfrm>
            <a:off x="551850" y="489600"/>
            <a:ext cx="14292000" cy="49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latin typeface="Proxima Nova"/>
                <a:ea typeface="Proxima Nova"/>
                <a:cs typeface="Proxima Nova"/>
                <a:sym typeface="Proxima Nova"/>
              </a:rPr>
              <a:t>Защита дипломного проекта</a:t>
            </a:r>
            <a:endParaRPr sz="3000" dirty="0" smtClean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>
              <a:lnSpc>
                <a:spcPct val="80000"/>
              </a:lnSpc>
            </a:pPr>
            <a:r>
              <a:rPr lang="ru-RU" sz="3200" dirty="0" smtClean="0"/>
              <a:t>Выявление </a:t>
            </a:r>
            <a:r>
              <a:rPr lang="ru-RU" sz="3200" dirty="0"/>
              <a:t>пневмонии на основе рентген-снимков грудной клетки с помощью CNN и </a:t>
            </a:r>
            <a:r>
              <a:rPr lang="ru-RU" sz="3200" dirty="0" err="1"/>
              <a:t>transfer</a:t>
            </a:r>
            <a:r>
              <a:rPr lang="ru-RU" sz="3200" dirty="0"/>
              <a:t> </a:t>
            </a:r>
            <a:r>
              <a:rPr lang="ru-RU" sz="3200" dirty="0" err="1" smtClean="0"/>
              <a:t>learning</a:t>
            </a:r>
            <a:endParaRPr sz="3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551850" y="7905600"/>
            <a:ext cx="5716800" cy="17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smtClean="0">
                <a:latin typeface="Proxima Nova"/>
                <a:ea typeface="Proxima Nova"/>
                <a:cs typeface="Proxima Nova"/>
                <a:sym typeface="Proxima Nova"/>
              </a:rPr>
              <a:t>Юшков Александр</a:t>
            </a:r>
            <a:endParaRPr sz="24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lvl="0"/>
            <a:r>
              <a:rPr lang="en-US" sz="1600" dirty="0"/>
              <a:t>DIPLOM-DSU-78</a:t>
            </a:r>
            <a:endParaRPr sz="16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63" name="Google Shape;863;p53"/>
          <p:cNvGrpSpPr/>
          <p:nvPr/>
        </p:nvGrpSpPr>
        <p:grpSpPr>
          <a:xfrm>
            <a:off x="17479462" y="9377475"/>
            <a:ext cx="517076" cy="530659"/>
            <a:chOff x="238125" y="2432825"/>
            <a:chExt cx="779550" cy="781875"/>
          </a:xfrm>
        </p:grpSpPr>
        <p:sp>
          <p:nvSpPr>
            <p:cNvPr id="864" name="Google Shape;864;p5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55"/>
          <p:cNvGrpSpPr/>
          <p:nvPr/>
        </p:nvGrpSpPr>
        <p:grpSpPr>
          <a:xfrm>
            <a:off x="552000" y="2462338"/>
            <a:ext cx="10004250" cy="489600"/>
            <a:chOff x="552000" y="2462338"/>
            <a:chExt cx="10004250" cy="489600"/>
          </a:xfrm>
        </p:grpSpPr>
        <p:sp>
          <p:nvSpPr>
            <p:cNvPr id="881" name="Google Shape;881;p55"/>
            <p:cNvSpPr txBox="1"/>
            <p:nvPr/>
          </p:nvSpPr>
          <p:spPr>
            <a:xfrm>
              <a:off x="1981050" y="2462338"/>
              <a:ext cx="85752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 dirty="0" smtClean="0">
                  <a:latin typeface="Proxima Nova"/>
                  <a:ea typeface="Proxima Nova"/>
                  <a:cs typeface="Proxima Nova"/>
                  <a:sym typeface="Proxima Nova"/>
                </a:rPr>
                <a:t>Описание задачи и датасета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82" name="Google Shape;882;p55"/>
            <p:cNvSpPr/>
            <p:nvPr/>
          </p:nvSpPr>
          <p:spPr>
            <a:xfrm>
              <a:off x="552000" y="2464138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latin typeface="Proxima Nova"/>
                  <a:ea typeface="Proxima Nova"/>
                  <a:cs typeface="Proxima Nova"/>
                  <a:sym typeface="Proxima Nova"/>
                </a:rPr>
                <a:t>1</a:t>
              </a:r>
              <a:endParaRPr b="1"/>
            </a:p>
          </p:txBody>
        </p:sp>
      </p:grpSp>
      <p:grpSp>
        <p:nvGrpSpPr>
          <p:cNvPr id="883" name="Google Shape;883;p55"/>
          <p:cNvGrpSpPr/>
          <p:nvPr/>
        </p:nvGrpSpPr>
        <p:grpSpPr>
          <a:xfrm>
            <a:off x="551843" y="3452400"/>
            <a:ext cx="10004407" cy="500400"/>
            <a:chOff x="551843" y="3452400"/>
            <a:chExt cx="10004407" cy="500400"/>
          </a:xfrm>
        </p:grpSpPr>
        <p:sp>
          <p:nvSpPr>
            <p:cNvPr id="884" name="Google Shape;884;p55"/>
            <p:cNvSpPr txBox="1"/>
            <p:nvPr/>
          </p:nvSpPr>
          <p:spPr>
            <a:xfrm>
              <a:off x="1981050" y="3452400"/>
              <a:ext cx="8575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 dirty="0" smtClean="0">
                  <a:latin typeface="Proxima Nova"/>
                  <a:ea typeface="Proxima Nova"/>
                  <a:cs typeface="Proxima Nova"/>
                  <a:sym typeface="Proxima Nova"/>
                </a:rPr>
                <a:t>Анализ и работа с данными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85" name="Google Shape;885;p55"/>
            <p:cNvSpPr/>
            <p:nvPr/>
          </p:nvSpPr>
          <p:spPr>
            <a:xfrm>
              <a:off x="551843" y="3459600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</a:t>
              </a:r>
              <a:endParaRPr b="1"/>
            </a:p>
          </p:txBody>
        </p:sp>
      </p:grpSp>
      <p:grpSp>
        <p:nvGrpSpPr>
          <p:cNvPr id="886" name="Google Shape;886;p55"/>
          <p:cNvGrpSpPr/>
          <p:nvPr/>
        </p:nvGrpSpPr>
        <p:grpSpPr>
          <a:xfrm>
            <a:off x="551993" y="4442400"/>
            <a:ext cx="10004257" cy="504000"/>
            <a:chOff x="551993" y="4442400"/>
            <a:chExt cx="10004257" cy="504000"/>
          </a:xfrm>
        </p:grpSpPr>
        <p:sp>
          <p:nvSpPr>
            <p:cNvPr id="887" name="Google Shape;887;p55"/>
            <p:cNvSpPr txBox="1"/>
            <p:nvPr/>
          </p:nvSpPr>
          <p:spPr>
            <a:xfrm>
              <a:off x="1981050" y="4442400"/>
              <a:ext cx="85752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 smtClean="0">
                  <a:latin typeface="Proxima Nova"/>
                  <a:ea typeface="Proxima Nova"/>
                  <a:cs typeface="Proxima Nova"/>
                  <a:sym typeface="Proxima Nova"/>
                </a:rPr>
                <a:t>Подбор архитектур для обучения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88" name="Google Shape;888;p55"/>
            <p:cNvSpPr/>
            <p:nvPr/>
          </p:nvSpPr>
          <p:spPr>
            <a:xfrm>
              <a:off x="551993" y="4451400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3</a:t>
              </a:r>
              <a:endParaRPr b="1"/>
            </a:p>
          </p:txBody>
        </p:sp>
      </p:grpSp>
      <p:grpSp>
        <p:nvGrpSpPr>
          <p:cNvPr id="889" name="Google Shape;889;p55"/>
          <p:cNvGrpSpPr/>
          <p:nvPr/>
        </p:nvGrpSpPr>
        <p:grpSpPr>
          <a:xfrm>
            <a:off x="551993" y="5435938"/>
            <a:ext cx="10004257" cy="489600"/>
            <a:chOff x="551993" y="5435938"/>
            <a:chExt cx="10004257" cy="489600"/>
          </a:xfrm>
        </p:grpSpPr>
        <p:sp>
          <p:nvSpPr>
            <p:cNvPr id="890" name="Google Shape;890;p55"/>
            <p:cNvSpPr txBox="1"/>
            <p:nvPr/>
          </p:nvSpPr>
          <p:spPr>
            <a:xfrm>
              <a:off x="1981050" y="5435938"/>
              <a:ext cx="85752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 smtClean="0">
                  <a:latin typeface="Proxima Nova"/>
                  <a:ea typeface="Proxima Nova"/>
                  <a:cs typeface="Proxima Nova"/>
                  <a:sym typeface="Proxima Nova"/>
                </a:rPr>
                <a:t>Обучение архитектур и создание </a:t>
              </a:r>
              <a:r>
                <a:rPr lang="en-US" sz="2400" dirty="0" err="1" smtClean="0">
                  <a:latin typeface="Proxima Nova"/>
                  <a:ea typeface="Proxima Nova"/>
                  <a:cs typeface="Proxima Nova"/>
                  <a:sym typeface="Proxima Nova"/>
                </a:rPr>
                <a:t>GradCAM</a:t>
              </a:r>
              <a:r>
                <a:rPr lang="ru-RU" sz="2400" dirty="0" smtClean="0">
                  <a:latin typeface="Proxima Nova"/>
                  <a:ea typeface="Proxima Nova"/>
                  <a:cs typeface="Proxima Nova"/>
                  <a:sym typeface="Proxima Nova"/>
                </a:rPr>
                <a:t> визуализации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91" name="Google Shape;891;p55"/>
            <p:cNvSpPr/>
            <p:nvPr/>
          </p:nvSpPr>
          <p:spPr>
            <a:xfrm>
              <a:off x="551993" y="5437738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4</a:t>
              </a:r>
              <a:endParaRPr b="1"/>
            </a:p>
          </p:txBody>
        </p:sp>
      </p:grpSp>
      <p:grpSp>
        <p:nvGrpSpPr>
          <p:cNvPr id="892" name="Google Shape;892;p55"/>
          <p:cNvGrpSpPr/>
          <p:nvPr/>
        </p:nvGrpSpPr>
        <p:grpSpPr>
          <a:xfrm>
            <a:off x="551993" y="6422338"/>
            <a:ext cx="10004257" cy="489600"/>
            <a:chOff x="551993" y="6422338"/>
            <a:chExt cx="10004257" cy="489600"/>
          </a:xfrm>
        </p:grpSpPr>
        <p:sp>
          <p:nvSpPr>
            <p:cNvPr id="893" name="Google Shape;893;p55"/>
            <p:cNvSpPr txBox="1"/>
            <p:nvPr/>
          </p:nvSpPr>
          <p:spPr>
            <a:xfrm>
              <a:off x="1981050" y="6422338"/>
              <a:ext cx="85752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400" dirty="0" smtClean="0">
                  <a:latin typeface="Proxima Nova"/>
                  <a:ea typeface="Proxima Nova"/>
                  <a:cs typeface="Proxima Nova"/>
                  <a:sym typeface="Proxima Nova"/>
                </a:rPr>
                <a:t>Сравнение архитектур и выводы</a:t>
              </a:r>
              <a:endParaRPr sz="2400" dirty="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94" name="Google Shape;894;p55"/>
            <p:cNvSpPr/>
            <p:nvPr/>
          </p:nvSpPr>
          <p:spPr>
            <a:xfrm>
              <a:off x="551993" y="6424138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5</a:t>
              </a:r>
              <a:endParaRPr b="1"/>
            </a:p>
          </p:txBody>
        </p:sp>
      </p:grpSp>
      <p:sp>
        <p:nvSpPr>
          <p:cNvPr id="901" name="Google Shape;901;p55"/>
          <p:cNvSpPr txBox="1"/>
          <p:nvPr/>
        </p:nvSpPr>
        <p:spPr>
          <a:xfrm>
            <a:off x="551850" y="489600"/>
            <a:ext cx="14292000" cy="1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5600" b="1" dirty="0">
                <a:latin typeface="Proxima Nova"/>
                <a:ea typeface="Proxima Nova"/>
                <a:cs typeface="Proxima Nova"/>
                <a:sym typeface="Proxima Nova"/>
              </a:rPr>
              <a:t>План </a:t>
            </a: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защиты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8" name="Google Shape;892;p55"/>
          <p:cNvGrpSpPr/>
          <p:nvPr/>
        </p:nvGrpSpPr>
        <p:grpSpPr>
          <a:xfrm>
            <a:off x="551843" y="7408738"/>
            <a:ext cx="10004257" cy="489600"/>
            <a:chOff x="551993" y="6422338"/>
            <a:chExt cx="10004257" cy="489600"/>
          </a:xfrm>
        </p:grpSpPr>
        <p:sp>
          <p:nvSpPr>
            <p:cNvPr id="19" name="Google Shape;893;p55"/>
            <p:cNvSpPr txBox="1"/>
            <p:nvPr/>
          </p:nvSpPr>
          <p:spPr>
            <a:xfrm>
              <a:off x="1981050" y="6422338"/>
              <a:ext cx="8575200" cy="48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ru-RU" sz="2400" dirty="0" err="1">
                  <a:latin typeface="Proxima Nova" panose="020B0604020202020204" charset="0"/>
                </a:rPr>
                <a:t>Дообучение</a:t>
              </a:r>
              <a:r>
                <a:rPr lang="ru-RU" sz="2400" dirty="0">
                  <a:latin typeface="Proxima Nova" panose="020B0604020202020204" charset="0"/>
                </a:rPr>
                <a:t> моделей</a:t>
              </a:r>
            </a:p>
          </p:txBody>
        </p:sp>
        <p:sp>
          <p:nvSpPr>
            <p:cNvPr id="20" name="Google Shape;894;p55"/>
            <p:cNvSpPr/>
            <p:nvPr/>
          </p:nvSpPr>
          <p:spPr>
            <a:xfrm>
              <a:off x="551993" y="6424138"/>
              <a:ext cx="486000" cy="486000"/>
            </a:xfrm>
            <a:prstGeom prst="ellipse">
              <a:avLst/>
            </a:prstGeom>
            <a:noFill/>
            <a:ln w="2857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800" b="1" dirty="0" smtClean="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6</a:t>
              </a:r>
              <a:endParaRPr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6911764" y="3938493"/>
            <a:ext cx="5688000" cy="5688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9600" b="1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12599764" y="3938493"/>
            <a:ext cx="5688000" cy="56880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551850" y="489600"/>
            <a:ext cx="14292000" cy="49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latin typeface="Proxima Nova"/>
                <a:ea typeface="Proxima Nova"/>
                <a:cs typeface="Proxima Nova"/>
                <a:sym typeface="Proxima Nova"/>
              </a:rPr>
              <a:t>Описание задачи и </a:t>
            </a:r>
            <a:r>
              <a:rPr lang="ru-RU" sz="9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датасета</a:t>
            </a: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" name="Google Shape;1914;p106"/>
          <p:cNvSpPr/>
          <p:nvPr/>
        </p:nvSpPr>
        <p:spPr>
          <a:xfrm>
            <a:off x="14038975" y="5569366"/>
            <a:ext cx="2809577" cy="242625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15855"/>
                </a:moveTo>
                <a:lnTo>
                  <a:pt x="1633" y="10800"/>
                </a:lnTo>
                <a:lnTo>
                  <a:pt x="4615" y="9156"/>
                </a:lnTo>
                <a:lnTo>
                  <a:pt x="10589" y="12450"/>
                </a:lnTo>
                <a:lnTo>
                  <a:pt x="10591" y="12446"/>
                </a:lnTo>
                <a:cubicBezTo>
                  <a:pt x="10654" y="12482"/>
                  <a:pt x="10724" y="12505"/>
                  <a:pt x="10800" y="12505"/>
                </a:cubicBezTo>
                <a:cubicBezTo>
                  <a:pt x="10876" y="12505"/>
                  <a:pt x="10946" y="12482"/>
                  <a:pt x="11009" y="12446"/>
                </a:cubicBezTo>
                <a:lnTo>
                  <a:pt x="11011" y="12450"/>
                </a:lnTo>
                <a:lnTo>
                  <a:pt x="16985" y="9156"/>
                </a:lnTo>
                <a:lnTo>
                  <a:pt x="19967" y="10800"/>
                </a:lnTo>
                <a:cubicBezTo>
                  <a:pt x="19967" y="10800"/>
                  <a:pt x="10800" y="15855"/>
                  <a:pt x="10800" y="15855"/>
                </a:cubicBezTo>
                <a:close/>
                <a:moveTo>
                  <a:pt x="19967" y="15347"/>
                </a:moveTo>
                <a:lnTo>
                  <a:pt x="10800" y="20402"/>
                </a:lnTo>
                <a:lnTo>
                  <a:pt x="1633" y="15347"/>
                </a:lnTo>
                <a:lnTo>
                  <a:pt x="4615" y="13703"/>
                </a:lnTo>
                <a:lnTo>
                  <a:pt x="10589" y="16997"/>
                </a:lnTo>
                <a:lnTo>
                  <a:pt x="10591" y="16994"/>
                </a:lnTo>
                <a:cubicBezTo>
                  <a:pt x="10654" y="17029"/>
                  <a:pt x="10724" y="17053"/>
                  <a:pt x="10800" y="17053"/>
                </a:cubicBezTo>
                <a:cubicBezTo>
                  <a:pt x="10876" y="17053"/>
                  <a:pt x="10946" y="17029"/>
                  <a:pt x="11009" y="16994"/>
                </a:cubicBezTo>
                <a:lnTo>
                  <a:pt x="11011" y="16997"/>
                </a:lnTo>
                <a:lnTo>
                  <a:pt x="16985" y="13703"/>
                </a:lnTo>
                <a:cubicBezTo>
                  <a:pt x="16985" y="13703"/>
                  <a:pt x="19967" y="15347"/>
                  <a:pt x="19967" y="15347"/>
                </a:cubicBezTo>
                <a:close/>
                <a:moveTo>
                  <a:pt x="1633" y="6253"/>
                </a:moveTo>
                <a:lnTo>
                  <a:pt x="10800" y="1198"/>
                </a:lnTo>
                <a:lnTo>
                  <a:pt x="19967" y="6253"/>
                </a:lnTo>
                <a:lnTo>
                  <a:pt x="10800" y="11307"/>
                </a:lnTo>
                <a:cubicBezTo>
                  <a:pt x="10800" y="11307"/>
                  <a:pt x="1633" y="6253"/>
                  <a:pt x="1633" y="6253"/>
                </a:cubicBezTo>
                <a:close/>
                <a:moveTo>
                  <a:pt x="21600" y="10800"/>
                </a:moveTo>
                <a:cubicBezTo>
                  <a:pt x="21600" y="10574"/>
                  <a:pt x="21484" y="10383"/>
                  <a:pt x="21319" y="10290"/>
                </a:cubicBezTo>
                <a:lnTo>
                  <a:pt x="21320" y="10287"/>
                </a:lnTo>
                <a:lnTo>
                  <a:pt x="18127" y="8526"/>
                </a:lnTo>
                <a:lnTo>
                  <a:pt x="21320" y="6766"/>
                </a:lnTo>
                <a:lnTo>
                  <a:pt x="21319" y="6762"/>
                </a:lnTo>
                <a:cubicBezTo>
                  <a:pt x="21484" y="6671"/>
                  <a:pt x="21600" y="6479"/>
                  <a:pt x="21600" y="6253"/>
                </a:cubicBezTo>
                <a:cubicBezTo>
                  <a:pt x="21600" y="6027"/>
                  <a:pt x="21484" y="5835"/>
                  <a:pt x="21319" y="5743"/>
                </a:cubicBezTo>
                <a:lnTo>
                  <a:pt x="21320" y="5740"/>
                </a:lnTo>
                <a:lnTo>
                  <a:pt x="11011" y="56"/>
                </a:lnTo>
                <a:lnTo>
                  <a:pt x="11009" y="59"/>
                </a:lnTo>
                <a:cubicBezTo>
                  <a:pt x="10946" y="23"/>
                  <a:pt x="10876" y="0"/>
                  <a:pt x="10800" y="0"/>
                </a:cubicBezTo>
                <a:cubicBezTo>
                  <a:pt x="10724" y="0"/>
                  <a:pt x="10654" y="23"/>
                  <a:pt x="10591" y="59"/>
                </a:cubicBezTo>
                <a:lnTo>
                  <a:pt x="10589" y="56"/>
                </a:lnTo>
                <a:lnTo>
                  <a:pt x="280" y="5740"/>
                </a:lnTo>
                <a:lnTo>
                  <a:pt x="281" y="5743"/>
                </a:lnTo>
                <a:cubicBezTo>
                  <a:pt x="116" y="5835"/>
                  <a:pt x="0" y="6027"/>
                  <a:pt x="0" y="6253"/>
                </a:cubicBezTo>
                <a:cubicBezTo>
                  <a:pt x="0" y="6479"/>
                  <a:pt x="116" y="6671"/>
                  <a:pt x="281" y="6762"/>
                </a:cubicBezTo>
                <a:lnTo>
                  <a:pt x="280" y="6766"/>
                </a:lnTo>
                <a:lnTo>
                  <a:pt x="3473" y="8526"/>
                </a:lnTo>
                <a:lnTo>
                  <a:pt x="280" y="10287"/>
                </a:lnTo>
                <a:lnTo>
                  <a:pt x="281" y="10290"/>
                </a:lnTo>
                <a:cubicBezTo>
                  <a:pt x="116" y="10383"/>
                  <a:pt x="0" y="10574"/>
                  <a:pt x="0" y="10800"/>
                </a:cubicBezTo>
                <a:cubicBezTo>
                  <a:pt x="0" y="11026"/>
                  <a:pt x="116" y="11218"/>
                  <a:pt x="281" y="11310"/>
                </a:cubicBezTo>
                <a:lnTo>
                  <a:pt x="280" y="11313"/>
                </a:lnTo>
                <a:lnTo>
                  <a:pt x="3473" y="13074"/>
                </a:lnTo>
                <a:lnTo>
                  <a:pt x="280" y="14834"/>
                </a:lnTo>
                <a:lnTo>
                  <a:pt x="281" y="14838"/>
                </a:lnTo>
                <a:cubicBezTo>
                  <a:pt x="116" y="14930"/>
                  <a:pt x="0" y="15121"/>
                  <a:pt x="0" y="15347"/>
                </a:cubicBezTo>
                <a:cubicBezTo>
                  <a:pt x="0" y="15574"/>
                  <a:pt x="116" y="15765"/>
                  <a:pt x="281" y="15857"/>
                </a:cubicBezTo>
                <a:lnTo>
                  <a:pt x="280" y="15860"/>
                </a:lnTo>
                <a:lnTo>
                  <a:pt x="10589" y="21544"/>
                </a:lnTo>
                <a:lnTo>
                  <a:pt x="10591" y="21541"/>
                </a:lnTo>
                <a:cubicBezTo>
                  <a:pt x="10654" y="21577"/>
                  <a:pt x="10724" y="21600"/>
                  <a:pt x="10800" y="21600"/>
                </a:cubicBezTo>
                <a:cubicBezTo>
                  <a:pt x="10876" y="21600"/>
                  <a:pt x="10946" y="21577"/>
                  <a:pt x="11009" y="21541"/>
                </a:cubicBezTo>
                <a:lnTo>
                  <a:pt x="11011" y="21544"/>
                </a:lnTo>
                <a:lnTo>
                  <a:pt x="21320" y="15860"/>
                </a:lnTo>
                <a:lnTo>
                  <a:pt x="21319" y="15857"/>
                </a:lnTo>
                <a:cubicBezTo>
                  <a:pt x="21484" y="15765"/>
                  <a:pt x="21600" y="15574"/>
                  <a:pt x="21600" y="15347"/>
                </a:cubicBezTo>
                <a:cubicBezTo>
                  <a:pt x="21600" y="15121"/>
                  <a:pt x="21484" y="14930"/>
                  <a:pt x="21319" y="14838"/>
                </a:cubicBezTo>
                <a:lnTo>
                  <a:pt x="21320" y="14834"/>
                </a:lnTo>
                <a:lnTo>
                  <a:pt x="18127" y="13074"/>
                </a:lnTo>
                <a:lnTo>
                  <a:pt x="21320" y="11313"/>
                </a:lnTo>
                <a:lnTo>
                  <a:pt x="21319" y="11310"/>
                </a:lnTo>
                <a:cubicBezTo>
                  <a:pt x="21484" y="11218"/>
                  <a:pt x="21600" y="11026"/>
                  <a:pt x="21600" y="10800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7125" tIns="17125" rIns="1712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ill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9"/>
          <p:cNvSpPr txBox="1"/>
          <p:nvPr/>
        </p:nvSpPr>
        <p:spPr>
          <a:xfrm>
            <a:off x="551850" y="489600"/>
            <a:ext cx="12862800" cy="6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Задача</a:t>
            </a:r>
          </a:p>
          <a:p>
            <a:pPr lvl="0">
              <a:lnSpc>
                <a:spcPct val="80000"/>
              </a:lnSpc>
            </a:pPr>
            <a:r>
              <a:rPr lang="ru-RU" sz="3000" dirty="0" smtClean="0">
                <a:latin typeface="Proxima Nova" panose="020B0604020202020204" charset="0"/>
              </a:rPr>
              <a:t>Бинарная </a:t>
            </a:r>
            <a:r>
              <a:rPr lang="ru-RU" sz="3000" dirty="0">
                <a:latin typeface="Proxima Nova" panose="020B0604020202020204" charset="0"/>
              </a:rPr>
              <a:t>классификация пневмонии на </a:t>
            </a:r>
            <a:r>
              <a:rPr lang="ru-RU" sz="3000" dirty="0" smtClean="0">
                <a:latin typeface="Proxima Nova" panose="020B0604020202020204" charset="0"/>
              </a:rPr>
              <a:t>рентген</a:t>
            </a:r>
            <a:r>
              <a:rPr lang="en-US" sz="3000" dirty="0" smtClean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снимках </a:t>
            </a:r>
            <a:r>
              <a:rPr lang="ru-RU" sz="3000" dirty="0">
                <a:latin typeface="Proxima Nova" panose="020B0604020202020204" charset="0"/>
              </a:rPr>
              <a:t>грудной клетки с использованием </a:t>
            </a:r>
            <a:r>
              <a:rPr lang="ru-RU" sz="3000" dirty="0" err="1">
                <a:latin typeface="Proxima Nova" panose="020B0604020202020204" charset="0"/>
              </a:rPr>
              <a:t>сверточных</a:t>
            </a:r>
            <a:r>
              <a:rPr lang="ru-RU" sz="3000" dirty="0">
                <a:latin typeface="Proxima Nova" panose="020B0604020202020204" charset="0"/>
              </a:rPr>
              <a:t> нейронных сетей (ResNet18/50, DenseNet121) </a:t>
            </a:r>
            <a:r>
              <a:rPr lang="ru-RU" sz="3000" dirty="0" smtClean="0">
                <a:latin typeface="Proxima Nova" panose="020B0604020202020204" charset="0"/>
              </a:rPr>
              <a:t>с учетом высокой </a:t>
            </a:r>
            <a:r>
              <a:rPr lang="ru-RU" sz="3000" dirty="0">
                <a:latin typeface="Proxima Nova" panose="020B0604020202020204" charset="0"/>
              </a:rPr>
              <a:t>чувствительности (</a:t>
            </a:r>
            <a:r>
              <a:rPr lang="ru-RU" sz="3000" dirty="0" err="1">
                <a:latin typeface="Proxima Nova" panose="020B0604020202020204" charset="0"/>
              </a:rPr>
              <a:t>recall</a:t>
            </a:r>
            <a:r>
              <a:rPr lang="ru-RU" sz="3000" dirty="0">
                <a:latin typeface="Proxima Nova" panose="020B0604020202020204" charset="0"/>
              </a:rPr>
              <a:t> ≥ 0.97</a:t>
            </a:r>
            <a:r>
              <a:rPr lang="ru-RU" sz="3000" dirty="0" smtClean="0">
                <a:latin typeface="Proxima Nova" panose="020B0604020202020204" charset="0"/>
              </a:rPr>
              <a:t>) и </a:t>
            </a:r>
            <a:r>
              <a:rPr lang="ru-RU" sz="3000" dirty="0" err="1" smtClean="0">
                <a:latin typeface="Proxima Nova" panose="020B0604020202020204" charset="0"/>
              </a:rPr>
              <a:t>минимазаци</a:t>
            </a:r>
            <a:r>
              <a:rPr lang="ru-RU" sz="3000" dirty="0" err="1">
                <a:latin typeface="Proxima Nova" panose="020B0604020202020204" charset="0"/>
              </a:rPr>
              <a:t>и</a:t>
            </a:r>
            <a:r>
              <a:rPr lang="ru-RU" sz="3000" dirty="0" smtClean="0">
                <a:latin typeface="Proxima Nova" panose="020B0604020202020204" charset="0"/>
              </a:rPr>
              <a:t> ложных срабатываний </a:t>
            </a:r>
            <a:r>
              <a:rPr lang="en-US" sz="3000" dirty="0" smtClean="0">
                <a:latin typeface="Proxima Nova" panose="020B0604020202020204" charset="0"/>
              </a:rPr>
              <a:t>False Positive</a:t>
            </a:r>
            <a:r>
              <a:rPr lang="ru-RU" sz="3000" dirty="0" smtClean="0">
                <a:latin typeface="Proxima Nova" panose="020B0604020202020204" charset="0"/>
              </a:rPr>
              <a:t>.</a:t>
            </a:r>
            <a:endParaRPr lang="ru-RU" sz="3000" dirty="0" smtClean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52857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3"/>
          <p:cNvSpPr txBox="1"/>
          <p:nvPr/>
        </p:nvSpPr>
        <p:spPr>
          <a:xfrm>
            <a:off x="551850" y="2243662"/>
            <a:ext cx="7157700" cy="52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000" rIns="91425" bIns="91425" anchor="t" anchorCtr="0">
            <a:noAutofit/>
          </a:bodyPr>
          <a:lstStyle/>
          <a:p>
            <a:r>
              <a:rPr lang="ru-RU" sz="3000" dirty="0" err="1" smtClean="0">
                <a:latin typeface="Proxima Nova"/>
                <a:ea typeface="Proxima Nova"/>
                <a:cs typeface="Proxima Nova"/>
                <a:sym typeface="Proxima Nova"/>
              </a:rPr>
              <a:t>Датасет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 содержит 5863 изображения рентген-снимков в формате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jpeg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 и два класса</a:t>
            </a:r>
            <a:r>
              <a:rPr lang="ru-RU" sz="3000" dirty="0"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NORMAL(</a:t>
            </a:r>
            <a:r>
              <a:rPr lang="ru-RU" sz="3000" dirty="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 и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PNEUMONIA(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endParaRPr lang="ru-RU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-US" sz="3000" dirty="0" smtClean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ДС имеет </a:t>
            </a:r>
            <a:r>
              <a:rPr lang="ru-RU" sz="3000" b="1" u="sng" dirty="0" smtClean="0">
                <a:solidFill>
                  <a:srgbClr val="FF0000"/>
                </a:solidFill>
                <a:latin typeface="Proxima Nova" panose="020B0604020202020204" charset="0"/>
              </a:rPr>
              <a:t>дисбаланс классов </a:t>
            </a:r>
            <a:r>
              <a:rPr lang="ru-RU" sz="3000" dirty="0" smtClean="0">
                <a:latin typeface="Proxima Nova" panose="020B0604020202020204" charset="0"/>
              </a:rPr>
              <a:t>– </a:t>
            </a:r>
            <a:r>
              <a:rPr lang="en-US" sz="3000" dirty="0" smtClean="0">
                <a:latin typeface="Proxima Nova" panose="020B0604020202020204" charset="0"/>
              </a:rPr>
              <a:t>PNEUMONIA &gt; NORMAL</a:t>
            </a:r>
            <a:r>
              <a:rPr lang="ru-RU" sz="3000" dirty="0" smtClean="0">
                <a:latin typeface="Proxima Nova" panose="020B0604020202020204" charset="0"/>
              </a:rPr>
              <a:t>(использую аугментации для класса </a:t>
            </a:r>
            <a:r>
              <a:rPr lang="en-US" sz="3000" dirty="0" smtClean="0">
                <a:latin typeface="Proxima Nova" panose="020B0604020202020204" charset="0"/>
              </a:rPr>
              <a:t>NORMAL</a:t>
            </a:r>
            <a:r>
              <a:rPr lang="ru-RU" sz="3000" dirty="0" smtClean="0">
                <a:latin typeface="Proxima Nova" panose="020B0604020202020204" charset="0"/>
              </a:rPr>
              <a:t>)</a:t>
            </a:r>
            <a:r>
              <a:rPr lang="en-US" sz="3000" dirty="0" smtClean="0">
                <a:latin typeface="Proxima Nova" panose="020B0604020202020204" charset="0"/>
              </a:rPr>
              <a:t>;</a:t>
            </a:r>
            <a:endParaRPr lang="ru-RU" sz="3000" dirty="0" smtClean="0">
              <a:latin typeface="Proxima Nova" panose="020B0604020202020204" charset="0"/>
            </a:endParaRPr>
          </a:p>
          <a:p>
            <a:endParaRPr lang="en-US" sz="3000" dirty="0" smtClean="0">
              <a:latin typeface="Proxima Nova" panose="020B0604020202020204" charset="0"/>
            </a:endParaRPr>
          </a:p>
          <a:p>
            <a:r>
              <a:rPr lang="ru-RU" sz="3000" dirty="0" smtClean="0">
                <a:latin typeface="Proxima Nova" panose="020B0604020202020204" charset="0"/>
              </a:rPr>
              <a:t>-</a:t>
            </a:r>
            <a:r>
              <a:rPr lang="ru-RU" sz="3000" b="1" u="sng" dirty="0" smtClean="0">
                <a:solidFill>
                  <a:schemeClr val="accent2"/>
                </a:solidFill>
                <a:latin typeface="Proxima Nova" panose="020B0604020202020204" charset="0"/>
              </a:rPr>
              <a:t>Мала </a:t>
            </a:r>
            <a:r>
              <a:rPr lang="ru-RU" sz="3000" b="1" u="sng" dirty="0" err="1" smtClean="0">
                <a:solidFill>
                  <a:schemeClr val="accent2"/>
                </a:solidFill>
                <a:latin typeface="Proxima Nova" panose="020B0604020202020204" charset="0"/>
              </a:rPr>
              <a:t>валидационная</a:t>
            </a:r>
            <a:r>
              <a:rPr lang="ru-RU" sz="3000" b="1" u="sng" dirty="0" smtClean="0">
                <a:solidFill>
                  <a:schemeClr val="accent2"/>
                </a:solidFill>
                <a:latin typeface="Proxima Nova" panose="020B0604020202020204" charset="0"/>
              </a:rPr>
              <a:t> выборка</a:t>
            </a:r>
            <a:r>
              <a:rPr lang="en-US" sz="3000" dirty="0" smtClean="0">
                <a:solidFill>
                  <a:schemeClr val="tx1"/>
                </a:solidFill>
                <a:latin typeface="Proxima Nova" panose="020B0604020202020204" charset="0"/>
              </a:rPr>
              <a:t> (</a:t>
            </a:r>
            <a:r>
              <a:rPr lang="ru-RU" sz="3000" dirty="0" smtClean="0">
                <a:solidFill>
                  <a:schemeClr val="tx1"/>
                </a:solidFill>
                <a:latin typeface="Proxima Nova" panose="020B0604020202020204" charset="0"/>
              </a:rPr>
              <a:t>создаю новую </a:t>
            </a:r>
            <a:r>
              <a:rPr lang="en-US" sz="3000" dirty="0" err="1" smtClean="0">
                <a:solidFill>
                  <a:schemeClr val="tx1"/>
                </a:solidFill>
                <a:latin typeface="Proxima Nova" panose="020B0604020202020204" charset="0"/>
              </a:rPr>
              <a:t>val</a:t>
            </a:r>
            <a:r>
              <a:rPr lang="en-US" sz="3000" dirty="0" smtClean="0">
                <a:solidFill>
                  <a:schemeClr val="tx1"/>
                </a:solidFill>
                <a:latin typeface="Proxima Nova" panose="020B0604020202020204" charset="0"/>
              </a:rPr>
              <a:t> </a:t>
            </a:r>
            <a:r>
              <a:rPr lang="ru-RU" sz="3000" dirty="0" smtClean="0">
                <a:solidFill>
                  <a:schemeClr val="tx1"/>
                </a:solidFill>
                <a:latin typeface="Proxima Nova" panose="020B0604020202020204" charset="0"/>
              </a:rPr>
              <a:t>выборку из 15% от </a:t>
            </a:r>
            <a:r>
              <a:rPr lang="en-US" sz="3000" dirty="0" smtClean="0">
                <a:solidFill>
                  <a:schemeClr val="tx1"/>
                </a:solidFill>
                <a:latin typeface="Proxima Nova" panose="020B0604020202020204" charset="0"/>
              </a:rPr>
              <a:t>train </a:t>
            </a:r>
            <a:r>
              <a:rPr lang="ru-RU" sz="3000" dirty="0" err="1" smtClean="0">
                <a:solidFill>
                  <a:schemeClr val="tx1"/>
                </a:solidFill>
                <a:latin typeface="Proxima Nova" panose="020B0604020202020204" charset="0"/>
              </a:rPr>
              <a:t>датасета</a:t>
            </a:r>
            <a:r>
              <a:rPr lang="en-US" sz="3000" dirty="0" smtClean="0">
                <a:solidFill>
                  <a:schemeClr val="tx1"/>
                </a:solidFill>
                <a:latin typeface="Proxima Nova" panose="020B0604020202020204" charset="0"/>
              </a:rPr>
              <a:t>)</a:t>
            </a:r>
            <a:endParaRPr lang="ru-RU" sz="3000" dirty="0">
              <a:solidFill>
                <a:schemeClr val="tx1"/>
              </a:solidFill>
              <a:latin typeface="Proxima Nova" panose="020B0604020202020204" charset="0"/>
            </a:endParaRPr>
          </a:p>
        </p:txBody>
      </p:sp>
      <p:sp>
        <p:nvSpPr>
          <p:cNvPr id="1126" name="Google Shape;1126;p73"/>
          <p:cNvSpPr txBox="1"/>
          <p:nvPr/>
        </p:nvSpPr>
        <p:spPr>
          <a:xfrm>
            <a:off x="551850" y="489600"/>
            <a:ext cx="12852000" cy="14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Датасет</a:t>
            </a: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5600" b="1" dirty="0" smtClean="0">
                <a:latin typeface="Proxima Nova" panose="020B0604020202020204" charset="0"/>
                <a:ea typeface="Proxima Nova"/>
              </a:rPr>
              <a:t>“</a:t>
            </a:r>
            <a:r>
              <a:rPr lang="en-US" sz="5600" b="1" dirty="0" smtClean="0">
                <a:latin typeface="Proxima Nova" panose="020B0604020202020204" charset="0"/>
              </a:rPr>
              <a:t>Chest </a:t>
            </a:r>
            <a:r>
              <a:rPr lang="en-US" sz="5600" b="1" dirty="0">
                <a:latin typeface="Proxima Nova" panose="020B0604020202020204" charset="0"/>
              </a:rPr>
              <a:t>X-Ray Images(Pneumonia</a:t>
            </a:r>
            <a:r>
              <a:rPr lang="en-US" sz="5600" b="1" dirty="0" smtClean="0">
                <a:latin typeface="Proxima Nova" panose="020B0604020202020204" charset="0"/>
              </a:rPr>
              <a:t>)”</a:t>
            </a:r>
          </a:p>
          <a:p>
            <a:pPr lvl="0">
              <a:lnSpc>
                <a:spcPct val="80000"/>
              </a:lnSpc>
            </a:pPr>
            <a:endParaRPr lang="en-US" sz="3000" b="1" dirty="0" smtClean="0">
              <a:latin typeface="Proxima Nova" panose="020B0604020202020204" charset="0"/>
            </a:endParaRPr>
          </a:p>
          <a:p>
            <a:pPr lvl="0">
              <a:lnSpc>
                <a:spcPct val="80000"/>
              </a:lnSpc>
            </a:pPr>
            <a:endParaRPr sz="3600" dirty="0"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8" name="Google Shape;1128;p73"/>
          <p:cNvSpPr txBox="1"/>
          <p:nvPr/>
        </p:nvSpPr>
        <p:spPr>
          <a:xfrm>
            <a:off x="540000" y="9396000"/>
            <a:ext cx="128745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0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https://www.kaggle.com/datasets/paultimothymooney/chest-xray-pneumonia</a:t>
            </a:r>
            <a:endParaRPr dirty="0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791901"/>
              </p:ext>
            </p:extLst>
          </p:nvPr>
        </p:nvGraphicFramePr>
        <p:xfrm>
          <a:off x="8010270" y="6084189"/>
          <a:ext cx="9611416" cy="204216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402854">
                  <a:extLst>
                    <a:ext uri="{9D8B030D-6E8A-4147-A177-3AD203B41FA5}">
                      <a16:colId xmlns:a16="http://schemas.microsoft.com/office/drawing/2014/main" val="4225361809"/>
                    </a:ext>
                  </a:extLst>
                </a:gridCol>
                <a:gridCol w="2402854">
                  <a:extLst>
                    <a:ext uri="{9D8B030D-6E8A-4147-A177-3AD203B41FA5}">
                      <a16:colId xmlns:a16="http://schemas.microsoft.com/office/drawing/2014/main" val="851513755"/>
                    </a:ext>
                  </a:extLst>
                </a:gridCol>
                <a:gridCol w="2402854">
                  <a:extLst>
                    <a:ext uri="{9D8B030D-6E8A-4147-A177-3AD203B41FA5}">
                      <a16:colId xmlns:a16="http://schemas.microsoft.com/office/drawing/2014/main" val="3083416240"/>
                    </a:ext>
                  </a:extLst>
                </a:gridCol>
                <a:gridCol w="2402854">
                  <a:extLst>
                    <a:ext uri="{9D8B030D-6E8A-4147-A177-3AD203B41FA5}">
                      <a16:colId xmlns:a16="http://schemas.microsoft.com/office/drawing/2014/main" val="4118321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Proxima Nova" panose="020B0604020202020204" charset="0"/>
                        </a:rPr>
                        <a:t>NORMAL</a:t>
                      </a:r>
                      <a:endParaRPr lang="ru-RU" sz="2400" b="0" dirty="0" smtClean="0">
                        <a:solidFill>
                          <a:schemeClr val="tx1"/>
                        </a:solidFill>
                        <a:latin typeface="Proxima Nova" panose="020B0604020202020204" charset="0"/>
                      </a:endParaRP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Proxima Nova" panose="020B0604020202020204" charset="0"/>
                        </a:rPr>
                        <a:t>PNEUMONIA</a:t>
                      </a:r>
                      <a:endParaRPr lang="ru-RU" sz="2400" b="0" dirty="0" smtClean="0">
                        <a:solidFill>
                          <a:schemeClr val="tx1"/>
                        </a:solidFill>
                        <a:latin typeface="Proxima Nova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2400" b="0" dirty="0" smtClean="0">
                        <a:solidFill>
                          <a:schemeClr val="tx1"/>
                        </a:solidFill>
                        <a:latin typeface="Proxima Nova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63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Proxima Nova" panose="020B0604020202020204" charset="0"/>
                        </a:rPr>
                        <a:t>Train</a:t>
                      </a:r>
                      <a:endParaRPr lang="ru-RU" sz="2400" dirty="0">
                        <a:latin typeface="Proxima Nova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1341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3875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5216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99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Proxima Nova" panose="020B0604020202020204" charset="0"/>
                        </a:rPr>
                        <a:t>Val</a:t>
                      </a:r>
                      <a:endParaRPr lang="ru-RU" sz="2400" dirty="0">
                        <a:latin typeface="Proxima Nova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8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16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3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Proxima Nova" panose="020B0604020202020204" charset="0"/>
                        </a:rPr>
                        <a:t>Test</a:t>
                      </a:r>
                      <a:endParaRPr lang="ru-RU" sz="2400" dirty="0">
                        <a:latin typeface="Proxima Nova" panose="020B06040202020202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234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390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624</a:t>
                      </a:r>
                      <a:endParaRPr lang="ru-R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035311"/>
                  </a:ext>
                </a:extLst>
              </a:tr>
            </a:tbl>
          </a:graphicData>
        </a:graphic>
      </p:graphicFrame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8010270" y="1230600"/>
            <a:ext cx="9611416" cy="4852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9"/>
          <p:cNvSpPr txBox="1"/>
          <p:nvPr/>
        </p:nvSpPr>
        <p:spPr>
          <a:xfrm>
            <a:off x="551850" y="489600"/>
            <a:ext cx="12862800" cy="6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Выбросы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9600" b="1" dirty="0" smtClean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>
              <a:lnSpc>
                <a:spcPct val="80000"/>
              </a:lnSpc>
            </a:pPr>
            <a:r>
              <a:rPr lang="ru-RU" sz="3000" dirty="0" smtClean="0">
                <a:latin typeface="Proxima Nova" panose="020B0604020202020204" charset="0"/>
              </a:rPr>
              <a:t>Данные не имеют выбросов(нечетких, смазанных снимков) – это указал сам автор </a:t>
            </a:r>
            <a:r>
              <a:rPr lang="ru-RU" sz="3000" dirty="0" err="1" smtClean="0">
                <a:latin typeface="Proxima Nova" panose="020B0604020202020204" charset="0"/>
              </a:rPr>
              <a:t>датасета</a:t>
            </a:r>
            <a:r>
              <a:rPr lang="ru-RU" sz="3000" dirty="0" smtClean="0">
                <a:latin typeface="Proxima Nova" panose="020B0604020202020204" charset="0"/>
              </a:rPr>
              <a:t> на </a:t>
            </a:r>
            <a:r>
              <a:rPr lang="en-US" sz="3000" dirty="0" err="1" smtClean="0">
                <a:latin typeface="Proxima Nova" panose="020B0604020202020204" charset="0"/>
              </a:rPr>
              <a:t>Kaggle</a:t>
            </a:r>
            <a:r>
              <a:rPr lang="en-US" sz="3000" dirty="0">
                <a:latin typeface="Proxima Nova" panose="020B0604020202020204" charset="0"/>
              </a:rPr>
              <a:t>.</a:t>
            </a:r>
            <a:endParaRPr lang="ru-RU" sz="3000" dirty="0" smtClean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50" y="5451347"/>
            <a:ext cx="16430901" cy="121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4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9"/>
          <p:cNvSpPr txBox="1"/>
          <p:nvPr/>
        </p:nvSpPr>
        <p:spPr>
          <a:xfrm>
            <a:off x="551850" y="489600"/>
            <a:ext cx="128628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Основные метрики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6;p69"/>
              <p:cNvSpPr txBox="1"/>
              <p:nvPr/>
            </p:nvSpPr>
            <p:spPr>
              <a:xfrm>
                <a:off x="551849" y="1638300"/>
                <a:ext cx="16292361" cy="813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36000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en-US" sz="3000" b="1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Recall</a:t>
                </a:r>
                <a:r>
                  <a:rPr lang="ru-RU" sz="3000" b="1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(полнота)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</m:num>
                      <m:den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ru-RU" sz="4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  <a:endParaRPr lang="ru-RU" sz="4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(сколько реальных случаев пневмонии было найдено) </a:t>
                </a:r>
                <a:endParaRPr lang="en-US" sz="2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en-US" sz="3000" b="1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F1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=</m:t>
                    </m:r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2∗</m:t>
                    </m:r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𝑃𝑟𝑒𝑐𝑖𝑠𝑖𝑜𝑛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 ∗ 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𝑅𝑒𝑐𝑎𝑙𝑙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𝑃𝑟𝑒𝑐𝑖𝑠𝑖𝑜𝑛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en-US" sz="4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2 ∗ 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2 ∗ 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(указывает насколько хорошо модель балансирует между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recall </a:t>
                </a: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и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precision</a:t>
                </a: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)</a:t>
                </a:r>
                <a:endParaRPr lang="en-US" sz="2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sz="3000" b="1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Roc-</a:t>
                </a:r>
                <a:r>
                  <a:rPr lang="en-US" sz="3000" b="1" dirty="0" err="1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Auc</a:t>
                </a:r>
                <a:r>
                  <a:rPr lang="en-US" sz="3000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  <a:r>
                  <a:rPr lang="ru-RU" sz="3000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вычисляется как площадь под </a:t>
                </a:r>
                <a:r>
                  <a:rPr lang="en-US" sz="3000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ROC </a:t>
                </a:r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– </a:t>
                </a:r>
                <a:r>
                  <a:rPr lang="ru-RU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кривой, которая строится по  точкам: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𝑇𝑃𝑅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</m:num>
                      <m:den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  <a:r>
                  <a:rPr lang="ru-RU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           и                   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𝐹𝑃𝑅</m:t>
                    </m:r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𝑃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𝑁</m:t>
                        </m:r>
                      </m:den>
                    </m:f>
                  </m:oMath>
                </a14:m>
                <a:r>
                  <a:rPr lang="ru-RU" sz="4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</a:p>
              <a:p>
                <a:pPr algn="ctr">
                  <a:lnSpc>
                    <a:spcPct val="80000"/>
                  </a:lnSpc>
                </a:pPr>
                <a:endParaRPr lang="en-US" sz="4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(указывает насколько хорошо модель ранжирует классы)</a:t>
                </a:r>
              </a:p>
            </p:txBody>
          </p:sp>
        </mc:Choice>
        <mc:Fallback xmlns="">
          <p:sp>
            <p:nvSpPr>
              <p:cNvPr id="3" name="Google Shape;1096;p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49" y="1638300"/>
                <a:ext cx="16292361" cy="8134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68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9"/>
          <p:cNvSpPr txBox="1"/>
          <p:nvPr/>
        </p:nvSpPr>
        <p:spPr>
          <a:xfrm>
            <a:off x="551850" y="489600"/>
            <a:ext cx="16773624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Вспомогательные метрики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6;p69"/>
              <p:cNvSpPr txBox="1"/>
              <p:nvPr/>
            </p:nvSpPr>
            <p:spPr>
              <a:xfrm>
                <a:off x="551849" y="1638300"/>
                <a:ext cx="16292361" cy="813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36000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en-US" sz="3000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Precision</a:t>
                </a:r>
                <a:r>
                  <a:rPr lang="ru-RU" sz="3000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(точность положительного класса)</a:t>
                </a:r>
                <a:r>
                  <a:rPr lang="en-US" sz="3000" dirty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</m:num>
                      <m:den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𝐹𝑃</m:t>
                        </m:r>
                      </m:den>
                    </m:f>
                  </m:oMath>
                </a14:m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(сколько из предсказанных больных реально больные)</a:t>
                </a:r>
              </a:p>
              <a:p>
                <a:pPr lvl="0" algn="ctr">
                  <a:lnSpc>
                    <a:spcPct val="80000"/>
                  </a:lnSpc>
                </a:pPr>
                <a:endParaRPr lang="en-US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en-US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Specificity(recall </a:t>
                </a:r>
                <a:r>
                  <a:rPr lang="ru-RU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по </a:t>
                </a:r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NORMAL)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𝑁</m:t>
                        </m:r>
                      </m:num>
                      <m:den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𝑁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𝐹𝑃</m:t>
                        </m:r>
                      </m:den>
                    </m:f>
                  </m:oMath>
                </a14:m>
                <a:endParaRPr lang="en-US" sz="4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r>
                  <a:rPr lang="en-US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</a:t>
                </a: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сколько верно выявлено здоровых</a:t>
                </a:r>
                <a:r>
                  <a:rPr lang="en-US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)</a:t>
                </a:r>
              </a:p>
              <a:p>
                <a:pPr lvl="0" algn="ctr">
                  <a:lnSpc>
                    <a:spcPct val="80000"/>
                  </a:lnSpc>
                </a:pPr>
                <a:endParaRPr lang="en-US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 algn="ctr">
                  <a:lnSpc>
                    <a:spcPct val="80000"/>
                  </a:lnSpc>
                </a:pPr>
                <a:endParaRPr lang="ru-RU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Accuracy </a:t>
                </a:r>
                <a:r>
                  <a:rPr lang="ru-RU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(точность)</a:t>
                </a:r>
                <a:r>
                  <a:rPr lang="en-US" sz="3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oxima Nova"/>
                        <a:cs typeface="Proxima Nova"/>
                        <a:sym typeface="Proxima Nova"/>
                      </a:rPr>
                      <m:t>=</m:t>
                    </m:r>
                    <m:f>
                      <m:fPr>
                        <m:ctrlPr>
                          <a:rPr lang="en-US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𝑇𝑁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𝑇𝑃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𝑇𝑁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𝐹𝑃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+</m:t>
                        </m:r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oxima Nova"/>
                            <a:cs typeface="Proxima Nova"/>
                            <a:sym typeface="Proxima Nova"/>
                          </a:rPr>
                          <m:t>𝐹𝑁</m:t>
                        </m:r>
                      </m:den>
                    </m:f>
                  </m:oMath>
                </a14:m>
                <a:endParaRPr lang="ru-RU" sz="2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ct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-RU" sz="2000" dirty="0" smtClean="0">
                    <a:solidFill>
                      <a:schemeClr val="tx1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(менее важна из-за дисбаланса классов)</a:t>
                </a:r>
                <a:endParaRPr lang="en-US" sz="2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4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u-RU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>
                  <a:lnSpc>
                    <a:spcPct val="80000"/>
                  </a:lnSpc>
                </a:pPr>
                <a:endParaRPr lang="en-US" sz="4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lvl="0">
                  <a:lnSpc>
                    <a:spcPct val="80000"/>
                  </a:lnSpc>
                </a:pPr>
                <a:endParaRPr lang="en-US" sz="4000" dirty="0" smtClean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  <a:p>
                <a:pPr marL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>
                  <a:solidFill>
                    <a:schemeClr val="tx1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mc:Choice>
        <mc:Fallback xmlns="">
          <p:sp>
            <p:nvSpPr>
              <p:cNvPr id="3" name="Google Shape;1096;p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49" y="1638300"/>
                <a:ext cx="16292361" cy="8134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10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9"/>
          <p:cNvSpPr txBox="1"/>
          <p:nvPr/>
        </p:nvSpPr>
        <p:spPr>
          <a:xfrm>
            <a:off x="551850" y="489600"/>
            <a:ext cx="128628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Матрица ошибок</a:t>
            </a:r>
          </a:p>
        </p:txBody>
      </p:sp>
      <p:sp>
        <p:nvSpPr>
          <p:cNvPr id="3" name="Google Shape;1096;p69"/>
          <p:cNvSpPr txBox="1"/>
          <p:nvPr/>
        </p:nvSpPr>
        <p:spPr>
          <a:xfrm>
            <a:off x="551849" y="1638300"/>
            <a:ext cx="17351140" cy="813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91425" bIns="91425" anchor="t" anchorCtr="0">
            <a:no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3000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-US" sz="3000" b="1" dirty="0">
                <a:latin typeface="Proxima Nova" panose="020B0604020202020204" charset="0"/>
                <a:cs typeface="Times New Roman" panose="02020603050405020304" pitchFamily="18" charset="0"/>
              </a:rPr>
              <a:t>TP (True Positive)</a:t>
            </a:r>
            <a:r>
              <a:rPr lang="en-US" sz="3000" dirty="0">
                <a:latin typeface="Proxima Nova" panose="020B0604020202020204" charset="0"/>
                <a:cs typeface="Times New Roman" panose="02020603050405020304" pitchFamily="18" charset="0"/>
              </a:rPr>
              <a:t> — </a:t>
            </a:r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Класс 1 распознан как класс 1 (сколько больных правильно найдено)</a:t>
            </a:r>
            <a:endParaRPr lang="en-US" sz="3000" dirty="0" smtClean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ru-RU" sz="3000" dirty="0" smtClean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ru-RU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Proxima Nova" panose="020B0604020202020204" charset="0"/>
                <a:cs typeface="Times New Roman" panose="02020603050405020304" pitchFamily="18" charset="0"/>
              </a:rPr>
              <a:t>TN (True Negative)</a:t>
            </a:r>
            <a:r>
              <a:rPr lang="en-US" sz="3000" dirty="0">
                <a:latin typeface="Proxima Nova" panose="020B0604020202020204" charset="0"/>
                <a:cs typeface="Times New Roman" panose="02020603050405020304" pitchFamily="18" charset="0"/>
              </a:rPr>
              <a:t> —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Класс </a:t>
            </a:r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0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распознан как класс 0 (сколько </a:t>
            </a:r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здоровых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правильно найдено)</a:t>
            </a:r>
            <a:endParaRPr lang="en-US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en-US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ru-RU" sz="3000" dirty="0" smtClean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ru-RU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Proxima Nova" panose="020B0604020202020204" charset="0"/>
                <a:cs typeface="Times New Roman" panose="02020603050405020304" pitchFamily="18" charset="0"/>
              </a:rPr>
              <a:t>FP (False Positive)</a:t>
            </a:r>
            <a:r>
              <a:rPr lang="en-US" sz="3000" dirty="0">
                <a:latin typeface="Proxima Nova" panose="020B0604020202020204" charset="0"/>
                <a:cs typeface="Times New Roman" panose="02020603050405020304" pitchFamily="18" charset="0"/>
              </a:rPr>
              <a:t> —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Класс </a:t>
            </a:r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0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распознан как класс 1</a:t>
            </a:r>
            <a:endParaRPr lang="en-US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 </a:t>
            </a:r>
            <a:r>
              <a:rPr lang="ru-RU" sz="3000" i="1" dirty="0">
                <a:latin typeface="Proxima Nova" panose="020B0604020202020204" charset="0"/>
                <a:cs typeface="Times New Roman" panose="02020603050405020304" pitchFamily="18" charset="0"/>
              </a:rPr>
              <a:t>(</a:t>
            </a:r>
            <a:r>
              <a:rPr lang="ru-RU" sz="3000" u="sng" dirty="0" smtClean="0">
                <a:latin typeface="Proxima Nova" panose="020B0604020202020204" charset="0"/>
                <a:cs typeface="Times New Roman" panose="02020603050405020304" pitchFamily="18" charset="0"/>
              </a:rPr>
              <a:t>ложная </a:t>
            </a:r>
            <a:r>
              <a:rPr lang="ru-RU" sz="3000" u="sng" dirty="0">
                <a:latin typeface="Proxima Nova" panose="020B0604020202020204" charset="0"/>
                <a:cs typeface="Times New Roman" panose="02020603050405020304" pitchFamily="18" charset="0"/>
              </a:rPr>
              <a:t>тревога</a:t>
            </a:r>
            <a:r>
              <a:rPr lang="ru-RU" sz="3000" i="1" dirty="0" smtClean="0">
                <a:latin typeface="Proxima Nova" panose="020B0604020202020204" charset="0"/>
                <a:cs typeface="Times New Roman" panose="02020603050405020304" pitchFamily="18" charset="0"/>
              </a:rPr>
              <a:t>)</a:t>
            </a:r>
            <a:endParaRPr lang="en-US" sz="3000" i="1" dirty="0" smtClean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ru-RU" sz="3000" dirty="0" smtClean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endParaRPr lang="ru-RU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Proxima Nova" panose="020B0604020202020204" charset="0"/>
                <a:cs typeface="Times New Roman" panose="02020603050405020304" pitchFamily="18" charset="0"/>
              </a:rPr>
              <a:t>FN (False Negative)</a:t>
            </a:r>
            <a:r>
              <a:rPr lang="en-US" sz="3000" dirty="0">
                <a:latin typeface="Proxima Nova" panose="020B0604020202020204" charset="0"/>
                <a:cs typeface="Times New Roman" panose="02020603050405020304" pitchFamily="18" charset="0"/>
              </a:rPr>
              <a:t> —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Класс 1 распознан как класс </a:t>
            </a:r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0</a:t>
            </a:r>
            <a:endParaRPr lang="en-US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r>
              <a:rPr lang="ru-RU" sz="3000" dirty="0" smtClean="0">
                <a:latin typeface="Proxima Nova" panose="020B060402020202020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Proxima Nova" panose="020B0604020202020204" charset="0"/>
                <a:cs typeface="Times New Roman" panose="02020603050405020304" pitchFamily="18" charset="0"/>
              </a:rPr>
              <a:t> </a:t>
            </a:r>
            <a:r>
              <a:rPr lang="ru-RU" sz="3000" i="1" dirty="0" smtClean="0">
                <a:latin typeface="Proxima Nova" panose="020B0604020202020204" charset="0"/>
                <a:cs typeface="Times New Roman" panose="02020603050405020304" pitchFamily="18" charset="0"/>
              </a:rPr>
              <a:t>(</a:t>
            </a:r>
            <a:r>
              <a:rPr lang="ru-RU" sz="3000" u="sng" dirty="0" smtClean="0">
                <a:latin typeface="Proxima Nova" panose="020B0604020202020204" charset="0"/>
                <a:cs typeface="Times New Roman" panose="02020603050405020304" pitchFamily="18" charset="0"/>
              </a:rPr>
              <a:t>ошибка, которую необходимо минимизировать</a:t>
            </a:r>
            <a:r>
              <a:rPr lang="ru-RU" sz="3000" i="1" dirty="0" smtClean="0">
                <a:latin typeface="Proxima Nova" panose="020B0604020202020204" charset="0"/>
                <a:cs typeface="Times New Roman" panose="02020603050405020304" pitchFamily="18" charset="0"/>
              </a:rPr>
              <a:t>)</a:t>
            </a:r>
            <a:endParaRPr lang="ru-RU" sz="3000" dirty="0">
              <a:latin typeface="Proxima Nova" panose="020B0604020202020204" charset="0"/>
              <a:cs typeface="Times New Roman" panose="02020603050405020304" pitchFamily="18" charset="0"/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3000" dirty="0" smtClean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44072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6911764" y="3938493"/>
            <a:ext cx="5688000" cy="5688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 b="1" dirty="0" smtClean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9600" b="1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12599764" y="3938493"/>
            <a:ext cx="5688000" cy="56880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551850" y="489600"/>
            <a:ext cx="14292000" cy="181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latin typeface="Proxima Nova"/>
                <a:ea typeface="Proxima Nova"/>
                <a:cs typeface="Proxima Nova"/>
                <a:sym typeface="Proxima Nova"/>
              </a:rPr>
              <a:t>Анализ и работа с данными</a:t>
            </a: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744;p105"/>
          <p:cNvSpPr/>
          <p:nvPr/>
        </p:nvSpPr>
        <p:spPr>
          <a:xfrm>
            <a:off x="14276532" y="5569366"/>
            <a:ext cx="2334461" cy="2335139"/>
          </a:xfrm>
          <a:custGeom>
            <a:avLst/>
            <a:gdLst/>
            <a:ahLst/>
            <a:cxnLst/>
            <a:rect l="l" t="t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7125" tIns="17125" rIns="1712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ill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9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2"/>
          <p:cNvSpPr txBox="1"/>
          <p:nvPr/>
        </p:nvSpPr>
        <p:spPr>
          <a:xfrm>
            <a:off x="551850" y="2217600"/>
            <a:ext cx="6610950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3600" bIns="0" anchor="t" anchorCtr="0">
            <a:noAutofit/>
          </a:bodyPr>
          <a:lstStyle/>
          <a:p>
            <a:pPr marL="447675" lvl="0" indent="-371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AutoNum type="arabicPeriod"/>
            </a:pPr>
            <a:r>
              <a:rPr lang="ru" sz="3000" dirty="0" smtClean="0">
                <a:latin typeface="Proxima Nova"/>
                <a:ea typeface="Proxima Nova"/>
                <a:cs typeface="Proxima Nova"/>
                <a:sym typeface="Proxima Nova"/>
              </a:rPr>
              <a:t>Изменил размер изображений до 224 х 224 пикселя(стандартный входной размер для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ImageNet</a:t>
            </a:r>
            <a:r>
              <a:rPr lang="ru" sz="3000" dirty="0" smtClean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r>
              <a:rPr lang="ru" sz="3000" dirty="0"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795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ru" sz="3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Предобработка изображений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99" y="1816603"/>
            <a:ext cx="9016002" cy="51297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2"/>
          <p:cNvSpPr txBox="1"/>
          <p:nvPr/>
        </p:nvSpPr>
        <p:spPr>
          <a:xfrm>
            <a:off x="551850" y="2217600"/>
            <a:ext cx="6610950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3600" bIns="0" anchor="t" anchorCtr="0">
            <a:noAutofit/>
          </a:bodyPr>
          <a:lstStyle/>
          <a:p>
            <a:pPr marL="795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ru" sz="3000" dirty="0" smtClean="0">
                <a:latin typeface="Proxima Nova"/>
                <a:ea typeface="Proxima Nova"/>
                <a:cs typeface="Proxima Nova"/>
                <a:sym typeface="Proxima Nova"/>
              </a:rPr>
              <a:t>2. </a:t>
            </a: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Провел неагрессивные аугментации над классом </a:t>
            </a:r>
            <a:r>
              <a:rPr lang="en-US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NORMAL</a:t>
            </a:r>
            <a:r>
              <a:rPr lang="ru-RU" sz="3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 </a:t>
            </a:r>
            <a:r>
              <a:rPr lang="en-US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train </a:t>
            </a:r>
            <a:r>
              <a:rPr lang="ru-RU" sz="3000" dirty="0" err="1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датасете</a:t>
            </a: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применил нормализацию со значениями, на которых обучались веса </a:t>
            </a:r>
            <a:r>
              <a:rPr lang="en-US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ImageNet</a:t>
            </a: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3000" b="1" i="1" u="sng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Предобработка изображений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37" y="2217600"/>
            <a:ext cx="10074780" cy="27925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44" y="6289846"/>
            <a:ext cx="17150606" cy="295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5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2"/>
          <p:cNvSpPr txBox="1"/>
          <p:nvPr/>
        </p:nvSpPr>
        <p:spPr>
          <a:xfrm>
            <a:off x="551850" y="2217600"/>
            <a:ext cx="6610950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3600" bIns="0" anchor="t" anchorCtr="0">
            <a:noAutofit/>
          </a:bodyPr>
          <a:lstStyle/>
          <a:p>
            <a:pPr marL="795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</a:pP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ru" sz="3000" dirty="0" smtClean="0"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Применил предобработку к </a:t>
            </a:r>
            <a:r>
              <a:rPr lang="en-US" sz="3000" dirty="0" err="1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val</a:t>
            </a:r>
            <a:r>
              <a:rPr lang="en-US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ru-RU" sz="3000" dirty="0" err="1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датасету</a:t>
            </a:r>
            <a:endParaRPr sz="3000" b="1" i="1" u="sng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Предобработка изображений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75" y="2425365"/>
            <a:ext cx="8829760" cy="30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8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2"/>
          <p:cNvSpPr txBox="1"/>
          <p:nvPr/>
        </p:nvSpPr>
        <p:spPr>
          <a:xfrm>
            <a:off x="551850" y="2217600"/>
            <a:ext cx="6610950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3600" bIns="0" anchor="t" anchorCtr="0">
            <a:noAutofit/>
          </a:bodyPr>
          <a:lstStyle/>
          <a:p>
            <a:pPr marL="79500" lvl="0">
              <a:buClr>
                <a:schemeClr val="dk1"/>
              </a:buClr>
              <a:buSzPts val="3000"/>
            </a:pPr>
            <a:r>
              <a:rPr lang="ru" sz="3000" dirty="0" smtClean="0">
                <a:latin typeface="Proxima Nova"/>
                <a:ea typeface="Proxima Nova"/>
                <a:cs typeface="Proxima Nova"/>
                <a:sym typeface="Proxima Nova"/>
              </a:rPr>
              <a:t>3. </a:t>
            </a:r>
            <a:r>
              <a:rPr lang="ru-RU" sz="3000" dirty="0">
                <a:latin typeface="Proxima Nova" panose="020B0604020202020204" charset="0"/>
              </a:rPr>
              <a:t>Создаю новую </a:t>
            </a:r>
            <a:r>
              <a:rPr lang="ru-RU" sz="3000" dirty="0" err="1" smtClean="0">
                <a:latin typeface="Proxima Nova" panose="020B0604020202020204" charset="0"/>
              </a:rPr>
              <a:t>валидационую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выборку из </a:t>
            </a:r>
            <a:r>
              <a:rPr lang="ru-RU" sz="3000" dirty="0" err="1">
                <a:latin typeface="Proxima Nova" panose="020B0604020202020204" charset="0"/>
              </a:rPr>
              <a:t>train</a:t>
            </a:r>
            <a:r>
              <a:rPr lang="ru-RU" sz="3000" dirty="0">
                <a:latin typeface="Proxima Nova" panose="020B0604020202020204" charset="0"/>
              </a:rPr>
              <a:t> (беру 15</a:t>
            </a:r>
            <a:r>
              <a:rPr lang="ru-RU" sz="3000" dirty="0" smtClean="0">
                <a:latin typeface="Proxima Nova" panose="020B0604020202020204" charset="0"/>
              </a:rPr>
              <a:t>%):</a:t>
            </a:r>
          </a:p>
          <a:p>
            <a:pPr marL="79500" lvl="0">
              <a:buClr>
                <a:schemeClr val="dk1"/>
              </a:buClr>
              <a:buSzPts val="3000"/>
            </a:pPr>
            <a:r>
              <a:rPr lang="ru-RU" sz="3000" dirty="0" smtClean="0">
                <a:latin typeface="Proxima Nova" panose="020B0604020202020204" charset="0"/>
              </a:rPr>
              <a:t>- Размер </a:t>
            </a:r>
            <a:r>
              <a:rPr lang="en-US" sz="3000" dirty="0" smtClean="0">
                <a:latin typeface="Proxima Nova" panose="020B0604020202020204" charset="0"/>
              </a:rPr>
              <a:t>train</a:t>
            </a:r>
            <a:r>
              <a:rPr lang="ru-RU" sz="3000" dirty="0" smtClean="0">
                <a:latin typeface="Proxima Nova" panose="020B0604020202020204" charset="0"/>
              </a:rPr>
              <a:t>: 4433</a:t>
            </a:r>
          </a:p>
          <a:p>
            <a:pPr marL="79500" lvl="0">
              <a:buClr>
                <a:schemeClr val="dk1"/>
              </a:buClr>
              <a:buSzPts val="3000"/>
            </a:pPr>
            <a:r>
              <a:rPr lang="en-US" sz="3000" dirty="0" smtClean="0">
                <a:latin typeface="Proxima Nova" panose="020B0604020202020204" charset="0"/>
              </a:rPr>
              <a:t>- </a:t>
            </a:r>
            <a:r>
              <a:rPr lang="ru-RU" sz="3000" dirty="0" smtClean="0">
                <a:latin typeface="Proxima Nova" panose="020B0604020202020204" charset="0"/>
              </a:rPr>
              <a:t>Размер </a:t>
            </a:r>
            <a:r>
              <a:rPr lang="en-US" sz="3000" dirty="0" err="1" smtClean="0">
                <a:latin typeface="Proxima Nova" panose="020B0604020202020204" charset="0"/>
              </a:rPr>
              <a:t>val</a:t>
            </a:r>
            <a:r>
              <a:rPr lang="ru-RU" sz="3000" dirty="0" smtClean="0">
                <a:latin typeface="Proxima Nova" panose="020B0604020202020204" charset="0"/>
              </a:rPr>
              <a:t>: 783</a:t>
            </a:r>
            <a:br>
              <a:rPr lang="ru-RU" sz="3000" dirty="0" smtClean="0">
                <a:latin typeface="Proxima Nova" panose="020B0604020202020204" charset="0"/>
              </a:rPr>
            </a:br>
            <a:r>
              <a:rPr lang="ru-RU" sz="3000" dirty="0" smtClean="0">
                <a:latin typeface="Proxima Nova" panose="020B0604020202020204" charset="0"/>
              </a:rPr>
              <a:t>- Размер </a:t>
            </a:r>
            <a:r>
              <a:rPr lang="en-US" sz="3000" dirty="0" smtClean="0">
                <a:latin typeface="Proxima Nova" panose="020B0604020202020204" charset="0"/>
              </a:rPr>
              <a:t>test: </a:t>
            </a:r>
            <a:r>
              <a:rPr lang="ru-RU" sz="3000" dirty="0" smtClean="0">
                <a:latin typeface="Proxima Nova" panose="020B0604020202020204" charset="0"/>
              </a:rPr>
              <a:t>624 (без изменений)</a:t>
            </a:r>
          </a:p>
          <a:p>
            <a:pPr marL="536700" lvl="0" indent="-457200">
              <a:buClr>
                <a:schemeClr val="dk1"/>
              </a:buClr>
              <a:buSzPts val="3000"/>
              <a:buFontTx/>
              <a:buChar char="-"/>
            </a:pPr>
            <a:endParaRPr lang="ru-RU" sz="3000" dirty="0">
              <a:latin typeface="Proxima Nova" panose="020B0604020202020204" charset="0"/>
            </a:endParaRPr>
          </a:p>
          <a:p>
            <a:pPr marL="79500" lvl="0">
              <a:buClr>
                <a:schemeClr val="dk1"/>
              </a:buClr>
              <a:buSzPts val="3000"/>
            </a:pPr>
            <a:r>
              <a:rPr lang="ru-RU" sz="3000" dirty="0" smtClean="0">
                <a:latin typeface="Proxima Nova" panose="020B0604020202020204" charset="0"/>
              </a:rPr>
              <a:t>4. Создаю </a:t>
            </a:r>
            <a:r>
              <a:rPr lang="en-US" sz="3000" dirty="0" smtClean="0">
                <a:latin typeface="Proxima Nova" panose="020B0604020202020204" charset="0"/>
              </a:rPr>
              <a:t>train </a:t>
            </a:r>
            <a:r>
              <a:rPr lang="ru-RU" sz="3000" dirty="0" err="1" smtClean="0">
                <a:latin typeface="Proxima Nova" panose="020B0604020202020204" charset="0"/>
              </a:rPr>
              <a:t>датасет</a:t>
            </a:r>
            <a:r>
              <a:rPr lang="ru-RU" sz="3000" dirty="0" smtClean="0">
                <a:latin typeface="Proxima Nova" panose="020B0604020202020204" charset="0"/>
              </a:rPr>
              <a:t> с базовым набором классов и дополнительными </a:t>
            </a:r>
            <a:r>
              <a:rPr lang="ru-RU" sz="3000" dirty="0" err="1" smtClean="0">
                <a:latin typeface="Proxima Nova" panose="020B0604020202020204" charset="0"/>
              </a:rPr>
              <a:t>аугментированными</a:t>
            </a:r>
            <a:r>
              <a:rPr lang="ru-RU" sz="3000" dirty="0" smtClean="0">
                <a:latin typeface="Proxima Nova" panose="020B0604020202020204" charset="0"/>
              </a:rPr>
              <a:t> копиями класса </a:t>
            </a:r>
            <a:r>
              <a:rPr lang="en-US" sz="3000" dirty="0" smtClean="0">
                <a:latin typeface="Proxima Nova" panose="020B0604020202020204" charset="0"/>
              </a:rPr>
              <a:t>NORMAL</a:t>
            </a:r>
            <a:r>
              <a:rPr lang="ru-RU" sz="3000" dirty="0" smtClean="0">
                <a:latin typeface="Proxima Nova" panose="020B0604020202020204" charset="0"/>
              </a:rPr>
              <a:t/>
            </a:r>
            <a:br>
              <a:rPr lang="ru-RU" sz="3000" dirty="0" smtClean="0">
                <a:latin typeface="Proxima Nova" panose="020B0604020202020204" charset="0"/>
              </a:rPr>
            </a:br>
            <a:endParaRPr sz="3000" b="1" i="1" u="sng" dirty="0">
              <a:solidFill>
                <a:srgbClr val="4BD0A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Создание новой </a:t>
            </a:r>
            <a:r>
              <a:rPr lang="ru-RU" sz="5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валидационой</a:t>
            </a: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 выборки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04719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6911764" y="3938493"/>
            <a:ext cx="5688000" cy="5688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 b="1" dirty="0" smtClean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9600" b="1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12599764" y="3938493"/>
            <a:ext cx="5688000" cy="56880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551850" y="489600"/>
            <a:ext cx="14292000" cy="181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600" b="1" dirty="0" smtClean="0">
                <a:latin typeface="Proxima Nova"/>
                <a:ea typeface="Proxima Nova"/>
                <a:cs typeface="Proxima Nova"/>
                <a:sym typeface="Proxima Nova"/>
              </a:rPr>
              <a:t>Подбор архитектур для обучения</a:t>
            </a:r>
            <a:endParaRPr sz="96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" name="Google Shape;2089;p107"/>
          <p:cNvSpPr/>
          <p:nvPr/>
        </p:nvSpPr>
        <p:spPr>
          <a:xfrm>
            <a:off x="14378132" y="5558836"/>
            <a:ext cx="2345669" cy="234566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7125" tIns="17125" rIns="1712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ill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4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17600"/>
            <a:ext cx="12862800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Быстрая тренировка и </a:t>
            </a:r>
            <a:r>
              <a:rPr lang="ru-RU" sz="3000" dirty="0" err="1" smtClean="0">
                <a:latin typeface="Proxima Nova"/>
                <a:ea typeface="Proxima Nova"/>
                <a:cs typeface="Proxima Nova"/>
                <a:sym typeface="Proxima Nova"/>
              </a:rPr>
              <a:t>инференс</a:t>
            </a:r>
            <a:r>
              <a:rPr lang="ru" sz="3000" dirty="0"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Меньше склонность к переобучению </a:t>
            </a:r>
            <a:endParaRPr lang="en-US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Хорошо работает с медицинскими данными</a:t>
            </a:r>
            <a:endParaRPr lang="en-US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Низкие требования к ресурсам в </a:t>
            </a:r>
            <a:r>
              <a:rPr lang="en-US" sz="3000" dirty="0" err="1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Colab</a:t>
            </a: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ResNet18 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525" y="2217600"/>
            <a:ext cx="8096250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55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17600"/>
            <a:ext cx="8664721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Глубже воспринимает признаки</a:t>
            </a:r>
            <a:endParaRPr lang="en-US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Ускоренные вычисления</a:t>
            </a:r>
            <a:endParaRPr sz="3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Хорошо работает с медицинскими данными</a:t>
            </a:r>
            <a:endParaRPr lang="en-US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ResNet50 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457" y="2528357"/>
            <a:ext cx="8665946" cy="39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28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17600"/>
            <a:ext cx="7756105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Альтернативный метод передачи признаков по сети;</a:t>
            </a: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-RU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Лучше градиенты за счет получения каждым слоем  признаков от всех предыдущих. </a:t>
            </a:r>
            <a:endParaRPr sz="3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DenseNet121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955" y="2497687"/>
            <a:ext cx="9448478" cy="281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02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6911764" y="3938493"/>
            <a:ext cx="5688000" cy="5688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 b="1" dirty="0" smtClean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9600" b="1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12599764" y="3938493"/>
            <a:ext cx="5688000" cy="56880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551850" y="489600"/>
            <a:ext cx="14292000" cy="181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sz="9600" b="1" dirty="0">
                <a:latin typeface="Proxima Nova"/>
                <a:ea typeface="Proxima Nova"/>
                <a:cs typeface="Proxima Nova"/>
                <a:sym typeface="Proxima Nova"/>
              </a:rPr>
              <a:t>Обучение архитектур и создание </a:t>
            </a:r>
            <a:r>
              <a:rPr lang="ru-RU" sz="9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GradCAM</a:t>
            </a: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2118;p108"/>
          <p:cNvSpPr/>
          <p:nvPr/>
        </p:nvSpPr>
        <p:spPr>
          <a:xfrm>
            <a:off x="14348939" y="5652230"/>
            <a:ext cx="2374862" cy="21588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34250" tIns="34250" rIns="34250" bIns="342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304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17600"/>
            <a:ext cx="17206761" cy="6589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Инициализация модели, загрузка </a:t>
            </a:r>
            <a:r>
              <a:rPr lang="ru-RU" sz="3000" dirty="0" err="1" smtClean="0">
                <a:latin typeface="Proxima Nova"/>
                <a:ea typeface="Proxima Nova"/>
                <a:cs typeface="Proxima Nova"/>
                <a:sym typeface="Proxima Nova"/>
              </a:rPr>
              <a:t>предобученных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 весов, заморозка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backbone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;</a:t>
            </a: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-RU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Настройка компонентов: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optimizer, 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функция потерь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criterion, scheduler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3000" dirty="0" err="1" smtClean="0">
                <a:latin typeface="Proxima Nova"/>
                <a:ea typeface="Proxima Nova"/>
                <a:cs typeface="Proxima Nova"/>
                <a:sym typeface="Proxima Nova"/>
              </a:rPr>
              <a:t>lr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для всех моделей одинаковы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);</a:t>
            </a:r>
            <a:endParaRPr lang="ru-RU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На каждой эпохе выполнял обучение на тренировочной выборке и оценивал на </a:t>
            </a:r>
            <a:r>
              <a:rPr lang="ru-RU" sz="3000" dirty="0" err="1" smtClean="0">
                <a:latin typeface="Proxima Nova"/>
                <a:ea typeface="Proxima Nova"/>
                <a:cs typeface="Proxima Nova"/>
                <a:sym typeface="Proxima Nova"/>
              </a:rPr>
              <a:t>валидации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 с сохранением лучших весов модели с наилучшим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F1;</a:t>
            </a:r>
            <a:endParaRPr lang="ru-RU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После чего производил оценивание модели на тестовой выборке;</a:t>
            </a: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После завершения обучения производил подбор порога классификации с условием 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recall</a:t>
            </a:r>
            <a:r>
              <a:rPr lang="ru-RU" sz="3000" dirty="0"/>
              <a:t>≥</a:t>
            </a:r>
            <a:r>
              <a:rPr lang="en-US" sz="3000" dirty="0" smtClean="0">
                <a:latin typeface="Proxima Nova"/>
                <a:ea typeface="Proxima Nova"/>
                <a:cs typeface="Proxima Nova"/>
                <a:sym typeface="Proxima Nova"/>
              </a:rPr>
              <a:t>0,97, </a:t>
            </a:r>
            <a:r>
              <a:rPr lang="ru-RU" sz="3000" dirty="0" smtClean="0">
                <a:latin typeface="Proxima Nova"/>
                <a:ea typeface="Proxima Nova"/>
                <a:cs typeface="Proxima Nova"/>
                <a:sym typeface="Proxima Nova"/>
              </a:rPr>
              <a:t>после чего оценивал модель на тестовой выборке;</a:t>
            </a: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ru-RU" sz="3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 конце выводил </a:t>
            </a:r>
            <a:r>
              <a:rPr lang="en-US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Grad-Cam </a:t>
            </a: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понимания, на какие области </a:t>
            </a:r>
            <a:r>
              <a:rPr lang="ru-RU" sz="3000" dirty="0" err="1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модлеь</a:t>
            </a:r>
            <a:r>
              <a:rPr lang="ru-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опиралась при выборе класса.</a:t>
            </a: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0000" lvl="0" indent="-46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  <a:buFont typeface="Proxima Nova"/>
              <a:buChar char="●"/>
            </a:pPr>
            <a:endParaRPr lang="ru" sz="3000" dirty="0" smtClean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D0A0"/>
              </a:buClr>
              <a:buSzPts val="3000"/>
            </a:pP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Процесс обучения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99608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89790"/>
            <a:ext cx="17303013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 panose="020B0604020202020204" charset="0"/>
              </a:rPr>
              <a:t>Модель </a:t>
            </a:r>
            <a:r>
              <a:rPr lang="ru-RU" sz="3000" dirty="0">
                <a:latin typeface="Proxima Nova" panose="020B0604020202020204" charset="0"/>
              </a:rPr>
              <a:t>успешно обучилась за 10 эпох, </a:t>
            </a:r>
            <a:r>
              <a:rPr lang="ru-RU" sz="3000" dirty="0" smtClean="0">
                <a:latin typeface="Proxima Nova" panose="020B0604020202020204" charset="0"/>
              </a:rPr>
              <a:t>показывая стабильное </a:t>
            </a:r>
            <a:r>
              <a:rPr lang="ru-RU" sz="3000" dirty="0">
                <a:latin typeface="Proxima Nova" panose="020B0604020202020204" charset="0"/>
              </a:rPr>
              <a:t>снижение </a:t>
            </a:r>
            <a:r>
              <a:rPr lang="ru-RU" sz="3000" dirty="0" err="1">
                <a:latin typeface="Proxima Nova" panose="020B0604020202020204" charset="0"/>
              </a:rPr>
              <a:t>train_loss</a:t>
            </a:r>
            <a:r>
              <a:rPr lang="ru-RU" sz="3000" dirty="0">
                <a:latin typeface="Proxima Nova" panose="020B0604020202020204" charset="0"/>
              </a:rPr>
              <a:t> с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2711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1215 </a:t>
            </a:r>
            <a:r>
              <a:rPr lang="ru-RU" sz="3000" dirty="0">
                <a:latin typeface="Proxima Nova" panose="020B0604020202020204" charset="0"/>
              </a:rPr>
              <a:t>и </a:t>
            </a:r>
            <a:r>
              <a:rPr lang="ru-RU" sz="3000" dirty="0" err="1">
                <a:latin typeface="Proxima Nova" panose="020B0604020202020204" charset="0"/>
              </a:rPr>
              <a:t>val_loss</a:t>
            </a:r>
            <a:r>
              <a:rPr lang="ru-RU" sz="3000" dirty="0">
                <a:latin typeface="Proxima Nova" panose="020B0604020202020204" charset="0"/>
              </a:rPr>
              <a:t> с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1838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0960</a:t>
            </a:r>
            <a:r>
              <a:rPr lang="en-US" sz="3000" dirty="0" smtClean="0">
                <a:latin typeface="Proxima Nova" panose="020B0604020202020204" charset="0"/>
              </a:rPr>
              <a:t>. </a:t>
            </a:r>
            <a:r>
              <a:rPr lang="ru-RU" sz="3000" dirty="0" smtClean="0">
                <a:latin typeface="Proxima Nova" panose="020B0604020202020204" charset="0"/>
              </a:rPr>
              <a:t>Лучший результат</a:t>
            </a:r>
            <a:r>
              <a:rPr lang="en-US" sz="3000" dirty="0" smtClean="0">
                <a:latin typeface="Proxima Nova" panose="020B0604020202020204" charset="0"/>
              </a:rPr>
              <a:t>: </a:t>
            </a:r>
            <a:r>
              <a:rPr lang="ru-RU" sz="3000" dirty="0" smtClean="0">
                <a:latin typeface="Proxima Nova" panose="020B0604020202020204" charset="0"/>
              </a:rPr>
              <a:t>F1=0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9785, </a:t>
            </a:r>
            <a:r>
              <a:rPr lang="en-US" sz="3000" dirty="0" err="1" smtClean="0">
                <a:latin typeface="Proxima Nova" panose="020B0604020202020204" charset="0"/>
              </a:rPr>
              <a:t>auc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993</a:t>
            </a:r>
            <a:r>
              <a:rPr lang="en-US" sz="3000" dirty="0" smtClean="0">
                <a:latin typeface="Proxima Nova" panose="020B0604020202020204" charset="0"/>
              </a:rPr>
              <a:t>8;</a:t>
            </a: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На тестовой выборке модель показала </a:t>
            </a:r>
            <a:r>
              <a:rPr lang="en-US" sz="3000" dirty="0" err="1">
                <a:latin typeface="Proxima Nova" panose="020B0604020202020204" charset="0"/>
              </a:rPr>
              <a:t>a</a:t>
            </a:r>
            <a:r>
              <a:rPr lang="ru-RU" sz="3000" dirty="0" err="1" smtClean="0">
                <a:latin typeface="Proxima Nova" panose="020B0604020202020204" charset="0"/>
              </a:rPr>
              <a:t>ccuracy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822 </a:t>
            </a:r>
            <a:r>
              <a:rPr lang="ru-RU" sz="3000" dirty="0">
                <a:latin typeface="Proxima Nova" panose="020B0604020202020204" charset="0"/>
              </a:rPr>
              <a:t>и </a:t>
            </a:r>
            <a:r>
              <a:rPr lang="en-US" sz="3000" dirty="0" err="1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985</a:t>
            </a:r>
            <a:r>
              <a:rPr lang="ru-RU" sz="3000" dirty="0">
                <a:latin typeface="Proxima Nova" panose="020B0604020202020204" charset="0"/>
              </a:rPr>
              <a:t>, пропустив </a:t>
            </a:r>
            <a:r>
              <a:rPr lang="ru-RU" sz="3000" dirty="0" smtClean="0">
                <a:latin typeface="Proxima Nova" panose="020B0604020202020204" charset="0"/>
              </a:rPr>
              <a:t>всего </a:t>
            </a:r>
            <a:r>
              <a:rPr lang="ru-RU" sz="3000" dirty="0">
                <a:latin typeface="Proxima Nova" panose="020B0604020202020204" charset="0"/>
              </a:rPr>
              <a:t>6 случаев пневмонии из </a:t>
            </a:r>
            <a:r>
              <a:rPr lang="ru-RU" sz="3000" dirty="0" smtClean="0">
                <a:latin typeface="Proxima Nova" panose="020B0604020202020204" charset="0"/>
              </a:rPr>
              <a:t>390</a:t>
            </a:r>
            <a:r>
              <a:rPr lang="en-US" sz="3000" dirty="0" smtClean="0">
                <a:latin typeface="Proxima Nova" panose="020B0604020202020204" charset="0"/>
              </a:rPr>
              <a:t>;</a:t>
            </a: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После подбора порога (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592</a:t>
            </a:r>
            <a:r>
              <a:rPr lang="ru-RU" sz="3000" dirty="0">
                <a:latin typeface="Proxima Nova" panose="020B0604020202020204" charset="0"/>
              </a:rPr>
              <a:t>) удалось улучшить </a:t>
            </a:r>
            <a:r>
              <a:rPr lang="ru-RU" sz="3000" dirty="0" smtClean="0">
                <a:latin typeface="Proxima Nova" panose="020B0604020202020204" charset="0"/>
              </a:rPr>
              <a:t>баланс: </a:t>
            </a:r>
            <a:r>
              <a:rPr lang="en-US" sz="3000" dirty="0" smtClean="0">
                <a:latin typeface="Proxima Nova" panose="020B0604020202020204" charset="0"/>
              </a:rPr>
              <a:t>a</a:t>
            </a:r>
            <a:r>
              <a:rPr lang="ru-RU" sz="3000" dirty="0" err="1" smtClean="0">
                <a:latin typeface="Proxima Nova" panose="020B0604020202020204" charset="0"/>
              </a:rPr>
              <a:t>ccuracy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выросла 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837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en-US" sz="3000" dirty="0" smtClean="0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остался высоким —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974</a:t>
            </a:r>
            <a:r>
              <a:rPr lang="ru-RU" sz="3000" dirty="0">
                <a:latin typeface="Proxima Nova" panose="020B0604020202020204" charset="0"/>
              </a:rPr>
              <a:t>, число ложноположительных сократилось с 105 до 92. Обучение прошло стабильно, без признаков переобучения </a:t>
            </a:r>
            <a:r>
              <a:rPr lang="en-US" sz="3000" dirty="0" smtClean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 err="1">
                <a:latin typeface="Proxima Nova" panose="020B0604020202020204" charset="0"/>
              </a:rPr>
              <a:t>val_loss</a:t>
            </a:r>
            <a:r>
              <a:rPr lang="ru-RU" sz="3000" dirty="0">
                <a:latin typeface="Proxima Nova" panose="020B0604020202020204" charset="0"/>
              </a:rPr>
              <a:t> </a:t>
            </a:r>
            <a:r>
              <a:rPr lang="ru-RU" sz="3000" dirty="0" smtClean="0">
                <a:latin typeface="Proxima Nova" panose="020B0604020202020204" charset="0"/>
              </a:rPr>
              <a:t>снижался </a:t>
            </a:r>
            <a:r>
              <a:rPr lang="ru-RU" sz="3000" dirty="0">
                <a:latin typeface="Proxima Nova" panose="020B0604020202020204" charset="0"/>
              </a:rPr>
              <a:t>и не расходился с </a:t>
            </a:r>
            <a:r>
              <a:rPr lang="ru-RU" sz="3000" dirty="0" err="1">
                <a:latin typeface="Proxima Nova" panose="020B0604020202020204" charset="0"/>
              </a:rPr>
              <a:t>train_loss</a:t>
            </a:r>
            <a:r>
              <a:rPr lang="ru-RU" sz="3000" dirty="0">
                <a:latin typeface="Proxima Nova" panose="020B0604020202020204" charset="0"/>
              </a:rPr>
              <a:t>.</a:t>
            </a: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Результаты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ResNet18 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13647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89790"/>
            <a:ext cx="17303013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Модель обучалась стабильно на протяжении </a:t>
            </a:r>
            <a:r>
              <a:rPr lang="ru-RU" sz="3000" dirty="0" smtClean="0">
                <a:latin typeface="Proxima Nova" panose="020B0604020202020204" charset="0"/>
              </a:rPr>
              <a:t>10 </a:t>
            </a:r>
            <a:r>
              <a:rPr lang="ru-RU" sz="3000" dirty="0">
                <a:latin typeface="Proxima Nova" panose="020B0604020202020204" charset="0"/>
              </a:rPr>
              <a:t>эпох: </a:t>
            </a:r>
            <a:r>
              <a:rPr lang="ru-RU" sz="3000" dirty="0" err="1">
                <a:latin typeface="Proxima Nova" panose="020B0604020202020204" charset="0"/>
              </a:rPr>
              <a:t>train_loss</a:t>
            </a:r>
            <a:r>
              <a:rPr lang="ru-RU" sz="3000" dirty="0">
                <a:latin typeface="Proxima Nova" panose="020B0604020202020204" charset="0"/>
              </a:rPr>
              <a:t> снизился с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2720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1119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ru-RU" sz="3000" dirty="0" err="1">
                <a:latin typeface="Proxima Nova" panose="020B0604020202020204" charset="0"/>
              </a:rPr>
              <a:t>val_loss</a:t>
            </a:r>
            <a:r>
              <a:rPr lang="ru-RU" sz="3000" dirty="0">
                <a:latin typeface="Proxima Nova" panose="020B0604020202020204" charset="0"/>
              </a:rPr>
              <a:t> — с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1825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1252</a:t>
            </a:r>
            <a:r>
              <a:rPr lang="en-US" sz="3000" dirty="0" smtClean="0">
                <a:latin typeface="Proxima Nova" panose="020B0604020202020204" charset="0"/>
              </a:rPr>
              <a:t>;</a:t>
            </a:r>
            <a:endParaRPr lang="ru-RU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На тестовой выборке модель показала </a:t>
            </a:r>
            <a:r>
              <a:rPr lang="en-US" sz="3000" dirty="0" smtClean="0">
                <a:latin typeface="Proxima Nova" panose="020B0604020202020204" charset="0"/>
              </a:rPr>
              <a:t>a</a:t>
            </a:r>
            <a:r>
              <a:rPr lang="ru-RU" sz="3000" dirty="0" err="1" smtClean="0">
                <a:latin typeface="Proxima Nova" panose="020B0604020202020204" charset="0"/>
              </a:rPr>
              <a:t>ccuracy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829 и </a:t>
            </a:r>
            <a:r>
              <a:rPr lang="ru-RU" sz="3000" dirty="0">
                <a:latin typeface="Proxima Nova" panose="020B0604020202020204" charset="0"/>
              </a:rPr>
              <a:t>высокий </a:t>
            </a:r>
            <a:r>
              <a:rPr lang="en-US" sz="3000" dirty="0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992 </a:t>
            </a:r>
            <a:r>
              <a:rPr lang="en-US" sz="3000" dirty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пропущено </a:t>
            </a:r>
            <a:r>
              <a:rPr lang="ru-RU" sz="3000" dirty="0" smtClean="0">
                <a:latin typeface="Proxima Nova" panose="020B0604020202020204" charset="0"/>
              </a:rPr>
              <a:t>всего </a:t>
            </a:r>
            <a:r>
              <a:rPr lang="ru-RU" sz="3000" dirty="0">
                <a:latin typeface="Proxima Nova" panose="020B0604020202020204" charset="0"/>
              </a:rPr>
              <a:t>3 случая пневмонии из </a:t>
            </a:r>
            <a:r>
              <a:rPr lang="ru-RU" sz="3000" dirty="0" smtClean="0">
                <a:latin typeface="Proxima Nova" panose="020B0604020202020204" charset="0"/>
              </a:rPr>
              <a:t>390</a:t>
            </a:r>
            <a:r>
              <a:rPr lang="en-US" sz="3000" dirty="0" smtClean="0">
                <a:latin typeface="Proxima Nova" panose="020B0604020202020204" charset="0"/>
              </a:rPr>
              <a:t>. </a:t>
            </a:r>
            <a:r>
              <a:rPr lang="ru-RU" sz="3000" dirty="0">
                <a:latin typeface="Proxima Nova" panose="020B0604020202020204" charset="0"/>
              </a:rPr>
              <a:t>Лучший </a:t>
            </a:r>
            <a:r>
              <a:rPr lang="ru-RU" sz="3000" dirty="0" smtClean="0">
                <a:latin typeface="Proxima Nova" panose="020B0604020202020204" charset="0"/>
              </a:rPr>
              <a:t>результат: F1=0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9685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en-US" sz="3000" dirty="0" err="1" smtClean="0">
                <a:latin typeface="Proxima Nova" panose="020B0604020202020204" charset="0"/>
              </a:rPr>
              <a:t>auc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9884</a:t>
            </a:r>
            <a:r>
              <a:rPr lang="en-US" sz="3000" dirty="0" smtClean="0">
                <a:latin typeface="Proxima Nova" panose="020B0604020202020204" charset="0"/>
              </a:rPr>
              <a:t>;</a:t>
            </a:r>
            <a:endParaRPr lang="ru-RU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П</a:t>
            </a:r>
            <a:r>
              <a:rPr lang="ru-RU" sz="3000" dirty="0" smtClean="0">
                <a:latin typeface="Proxima Nova" panose="020B0604020202020204" charset="0"/>
              </a:rPr>
              <a:t>осле </a:t>
            </a:r>
            <a:r>
              <a:rPr lang="ru-RU" sz="3000" dirty="0">
                <a:latin typeface="Proxima Nova" panose="020B0604020202020204" charset="0"/>
              </a:rPr>
              <a:t>подбора порога (0.410) </a:t>
            </a:r>
            <a:r>
              <a:rPr lang="en-US" sz="3000" dirty="0" err="1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вырос 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995 </a:t>
            </a:r>
            <a:r>
              <a:rPr lang="ru-RU" sz="3000" dirty="0">
                <a:latin typeface="Proxima Nova" panose="020B0604020202020204" charset="0"/>
              </a:rPr>
              <a:t>(FN=2), </a:t>
            </a:r>
            <a:r>
              <a:rPr lang="ru-RU" sz="3000" dirty="0" smtClean="0">
                <a:latin typeface="Proxima Nova" panose="020B0604020202020204" charset="0"/>
              </a:rPr>
              <a:t>но </a:t>
            </a:r>
            <a:r>
              <a:rPr lang="en-US" sz="3000" dirty="0" err="1">
                <a:latin typeface="Proxima Nova" panose="020B0604020202020204" charset="0"/>
              </a:rPr>
              <a:t>a</a:t>
            </a:r>
            <a:r>
              <a:rPr lang="ru-RU" sz="3000" dirty="0" err="1" smtClean="0">
                <a:latin typeface="Proxima Nova" panose="020B0604020202020204" charset="0"/>
              </a:rPr>
              <a:t>ccuracy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снизилась до 0.798, а число ложноположительных увеличилось до 124. </a:t>
            </a:r>
            <a:endParaRPr sz="3000" dirty="0">
              <a:solidFill>
                <a:srgbClr val="4BD0A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Результаты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ResNet50 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23021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89790"/>
            <a:ext cx="17303013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Модель обучалась очень быстро и агрессивно: </a:t>
            </a:r>
            <a:r>
              <a:rPr lang="ru-RU" sz="3000" dirty="0" smtClean="0">
                <a:latin typeface="Proxima Nova" panose="020B0604020202020204" charset="0"/>
              </a:rPr>
              <a:t>в начале </a:t>
            </a:r>
            <a:r>
              <a:rPr lang="ru-RU" sz="3000" dirty="0" err="1" smtClean="0">
                <a:latin typeface="Proxima Nova" panose="020B0604020202020204" charset="0"/>
              </a:rPr>
              <a:t>train_loss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упал до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0262</a:t>
            </a:r>
            <a:r>
              <a:rPr lang="ru-RU" sz="3000" dirty="0">
                <a:latin typeface="Proxima Nova" panose="020B0604020202020204" charset="0"/>
              </a:rPr>
              <a:t>, а к </a:t>
            </a:r>
            <a:r>
              <a:rPr lang="ru-RU" sz="3000" dirty="0" smtClean="0">
                <a:latin typeface="Proxima Nova" panose="020B0604020202020204" charset="0"/>
              </a:rPr>
              <a:t>концу </a:t>
            </a:r>
            <a:r>
              <a:rPr lang="ru-RU" sz="3000" dirty="0">
                <a:latin typeface="Proxima Nova" panose="020B0604020202020204" charset="0"/>
              </a:rPr>
              <a:t>достиг минимума </a:t>
            </a:r>
            <a:r>
              <a:rPr lang="ru-RU" sz="3000" dirty="0" smtClean="0">
                <a:latin typeface="Proxima Nova" panose="020B0604020202020204" charset="0"/>
              </a:rPr>
              <a:t>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0015</a:t>
            </a:r>
            <a:r>
              <a:rPr lang="en-US" sz="3000" dirty="0" smtClean="0">
                <a:latin typeface="Proxima Nova" panose="020B0604020202020204" charset="0"/>
              </a:rPr>
              <a:t>.</a:t>
            </a:r>
            <a:r>
              <a:rPr lang="ru-RU" sz="3000" dirty="0">
                <a:latin typeface="Proxima Nova" panose="020B0604020202020204" charset="0"/>
              </a:rPr>
              <a:t> Лучший результат на </a:t>
            </a:r>
            <a:r>
              <a:rPr lang="ru-RU" sz="3000" dirty="0" err="1" smtClean="0">
                <a:latin typeface="Proxima Nova" panose="020B0604020202020204" charset="0"/>
              </a:rPr>
              <a:t>валидации</a:t>
            </a:r>
            <a:r>
              <a:rPr lang="ru-RU" sz="3000" dirty="0" smtClean="0">
                <a:latin typeface="Proxima Nova" panose="020B0604020202020204" charset="0"/>
              </a:rPr>
              <a:t>: F1=0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9974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en-US" sz="3000" dirty="0" err="1" smtClean="0">
                <a:latin typeface="Proxima Nova" panose="020B0604020202020204" charset="0"/>
              </a:rPr>
              <a:t>auc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9999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en-US" sz="3000" dirty="0">
                <a:latin typeface="Proxima Nova" panose="020B0604020202020204" charset="0"/>
              </a:rPr>
              <a:t>a</a:t>
            </a:r>
            <a:r>
              <a:rPr lang="ru-RU" sz="3000" dirty="0" err="1" smtClean="0">
                <a:latin typeface="Proxima Nova" panose="020B0604020202020204" charset="0"/>
              </a:rPr>
              <a:t>ccuracy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996 </a:t>
            </a:r>
            <a:r>
              <a:rPr lang="ru-RU" sz="3000" dirty="0">
                <a:latin typeface="Proxima Nova" panose="020B0604020202020204" charset="0"/>
              </a:rPr>
              <a:t>— практически </a:t>
            </a:r>
            <a:r>
              <a:rPr lang="ru-RU" sz="3000">
                <a:latin typeface="Proxima Nova" panose="020B0604020202020204" charset="0"/>
              </a:rPr>
              <a:t>идеальные </a:t>
            </a:r>
            <a:r>
              <a:rPr lang="ru-RU" sz="3000" smtClean="0">
                <a:latin typeface="Proxima Nova" panose="020B0604020202020204" charset="0"/>
              </a:rPr>
              <a:t>показатели</a:t>
            </a:r>
            <a:r>
              <a:rPr lang="en-US" sz="3000" smtClean="0">
                <a:latin typeface="Proxima Nova" panose="020B0604020202020204" charset="0"/>
              </a:rPr>
              <a:t>;</a:t>
            </a: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 </a:t>
            </a:r>
            <a:r>
              <a:rPr lang="ru-RU" sz="3000" dirty="0" smtClean="0">
                <a:latin typeface="Proxima Nova" panose="020B0604020202020204" charset="0"/>
              </a:rPr>
              <a:t>На тестовой </a:t>
            </a:r>
            <a:r>
              <a:rPr lang="ru-RU" sz="3000" dirty="0">
                <a:latin typeface="Proxima Nova" panose="020B0604020202020204" charset="0"/>
              </a:rPr>
              <a:t>выборке </a:t>
            </a:r>
            <a:r>
              <a:rPr lang="ru-RU" sz="3000" dirty="0" smtClean="0">
                <a:latin typeface="Proxima Nova" panose="020B0604020202020204" charset="0"/>
              </a:rPr>
              <a:t>все изменилось</a:t>
            </a:r>
            <a:r>
              <a:rPr lang="ru-RU" sz="3000" dirty="0">
                <a:latin typeface="Proxima Nova" panose="020B0604020202020204" charset="0"/>
              </a:rPr>
              <a:t>: </a:t>
            </a:r>
            <a:r>
              <a:rPr lang="en-US" sz="3000" dirty="0">
                <a:latin typeface="Proxima Nova" panose="020B0604020202020204" charset="0"/>
              </a:rPr>
              <a:t>a</a:t>
            </a:r>
            <a:r>
              <a:rPr lang="ru-RU" sz="3000" dirty="0" err="1" smtClean="0">
                <a:latin typeface="Proxima Nova" panose="020B0604020202020204" charset="0"/>
              </a:rPr>
              <a:t>ccuracy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752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en-US" sz="3000" dirty="0">
                <a:latin typeface="Proxima Nova" panose="020B0604020202020204" charset="0"/>
              </a:rPr>
              <a:t>p</a:t>
            </a:r>
            <a:r>
              <a:rPr lang="ru-RU" sz="3000" dirty="0" err="1" smtClean="0">
                <a:latin typeface="Proxima Nova" panose="020B0604020202020204" charset="0"/>
              </a:rPr>
              <a:t>recision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716 </a:t>
            </a:r>
            <a:r>
              <a:rPr lang="ru-RU" sz="3000" dirty="0">
                <a:latin typeface="Proxima Nova" panose="020B0604020202020204" charset="0"/>
              </a:rPr>
              <a:t>при </a:t>
            </a:r>
            <a:r>
              <a:rPr lang="en-US" sz="3000" dirty="0" err="1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=1.000 </a:t>
            </a:r>
            <a:r>
              <a:rPr lang="en-US" sz="3000" dirty="0" smtClean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модель не пропустила ни одного случая </a:t>
            </a:r>
            <a:r>
              <a:rPr lang="ru-RU" sz="3000" dirty="0" smtClean="0">
                <a:latin typeface="Proxima Nova" panose="020B0604020202020204" charset="0"/>
              </a:rPr>
              <a:t>пневмонии и спрогнозировала </a:t>
            </a:r>
            <a:r>
              <a:rPr lang="ru-RU" sz="3000" dirty="0">
                <a:latin typeface="Proxima Nova" panose="020B0604020202020204" charset="0"/>
              </a:rPr>
              <a:t>155 ложноположительных </a:t>
            </a:r>
            <a:r>
              <a:rPr lang="ru-RU" sz="3000" dirty="0" smtClean="0">
                <a:latin typeface="Proxima Nova" panose="020B0604020202020204" charset="0"/>
              </a:rPr>
              <a:t>ошибок. Резкое </a:t>
            </a:r>
            <a:r>
              <a:rPr lang="ru-RU" sz="3000" dirty="0">
                <a:latin typeface="Proxima Nova" panose="020B0604020202020204" charset="0"/>
              </a:rPr>
              <a:t>расхождение между </a:t>
            </a:r>
            <a:r>
              <a:rPr lang="ru-RU" sz="3000" dirty="0" err="1">
                <a:latin typeface="Proxima Nova" panose="020B0604020202020204" charset="0"/>
              </a:rPr>
              <a:t>валидацией</a:t>
            </a:r>
            <a:r>
              <a:rPr lang="ru-RU" sz="3000" dirty="0">
                <a:latin typeface="Proxima Nova" panose="020B0604020202020204" charset="0"/>
              </a:rPr>
              <a:t> и </a:t>
            </a:r>
            <a:r>
              <a:rPr lang="ru-RU" sz="3000" dirty="0" smtClean="0">
                <a:latin typeface="Proxima Nova" panose="020B0604020202020204" charset="0"/>
              </a:rPr>
              <a:t>тестом и большой разницей между </a:t>
            </a:r>
            <a:r>
              <a:rPr lang="en-US" sz="3000" dirty="0" err="1" smtClean="0">
                <a:latin typeface="Proxima Nova" panose="020B0604020202020204" charset="0"/>
              </a:rPr>
              <a:t>val</a:t>
            </a:r>
            <a:r>
              <a:rPr lang="ru-RU" sz="3000" dirty="0" smtClean="0">
                <a:latin typeface="Proxima Nova" panose="020B0604020202020204" charset="0"/>
              </a:rPr>
              <a:t>_</a:t>
            </a:r>
            <a:r>
              <a:rPr lang="ru-RU" sz="3000" dirty="0" err="1" smtClean="0">
                <a:latin typeface="Proxima Nova" panose="020B0604020202020204" charset="0"/>
              </a:rPr>
              <a:t>loss</a:t>
            </a:r>
            <a:r>
              <a:rPr lang="en-US" sz="3000" dirty="0" smtClean="0">
                <a:latin typeface="Proxima Nova" panose="020B0604020202020204" charset="0"/>
              </a:rPr>
              <a:t>(0,0528)</a:t>
            </a:r>
            <a:r>
              <a:rPr lang="ru-RU" sz="3000" dirty="0" smtClean="0">
                <a:latin typeface="Proxima Nova" panose="020B0604020202020204" charset="0"/>
              </a:rPr>
              <a:t> и</a:t>
            </a:r>
            <a:r>
              <a:rPr lang="en-US" sz="3000" dirty="0" smtClean="0">
                <a:latin typeface="Proxima Nova" panose="020B0604020202020204" charset="0"/>
              </a:rPr>
              <a:t> </a:t>
            </a:r>
            <a:r>
              <a:rPr lang="en-US" sz="3000" dirty="0" err="1" smtClean="0">
                <a:latin typeface="Proxima Nova" panose="020B0604020202020204" charset="0"/>
              </a:rPr>
              <a:t>test_loss</a:t>
            </a:r>
            <a:r>
              <a:rPr lang="en-US" sz="3000" dirty="0" smtClean="0">
                <a:latin typeface="Proxima Nova" panose="020B0604020202020204" charset="0"/>
              </a:rPr>
              <a:t> (1,5383) </a:t>
            </a:r>
            <a:r>
              <a:rPr lang="ru-RU" sz="3000" dirty="0" smtClean="0">
                <a:latin typeface="Proxima Nova" panose="020B0604020202020204" charset="0"/>
              </a:rPr>
              <a:t>указывает </a:t>
            </a:r>
            <a:r>
              <a:rPr lang="ru-RU" sz="3000" dirty="0">
                <a:latin typeface="Proxima Nova" panose="020B0604020202020204" charset="0"/>
              </a:rPr>
              <a:t>на переобучение: модель заучила особенности </a:t>
            </a:r>
            <a:r>
              <a:rPr lang="ru-RU" sz="3000" dirty="0" err="1">
                <a:latin typeface="Proxima Nova" panose="020B0604020202020204" charset="0"/>
              </a:rPr>
              <a:t>валидационной</a:t>
            </a:r>
            <a:r>
              <a:rPr lang="ru-RU" sz="3000" dirty="0">
                <a:latin typeface="Proxima Nova" panose="020B0604020202020204" charset="0"/>
              </a:rPr>
              <a:t> выборки, но не обобщилась на новые </a:t>
            </a:r>
            <a:r>
              <a:rPr lang="ru-RU" sz="3000" dirty="0" smtClean="0">
                <a:latin typeface="Proxima Nova" panose="020B0604020202020204" charset="0"/>
              </a:rPr>
              <a:t>данные</a:t>
            </a:r>
            <a:r>
              <a:rPr lang="en-US" sz="3000" dirty="0" smtClean="0">
                <a:latin typeface="Proxima Nova" panose="020B0604020202020204" charset="0"/>
              </a:rPr>
              <a:t>;</a:t>
            </a: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Высокий </a:t>
            </a:r>
            <a:r>
              <a:rPr lang="en-US" sz="3000" dirty="0" err="1" smtClean="0">
                <a:latin typeface="Proxima Nova" panose="020B0604020202020204" charset="0"/>
              </a:rPr>
              <a:t>auc</a:t>
            </a:r>
            <a:r>
              <a:rPr lang="ru-RU" sz="3000" dirty="0" smtClean="0">
                <a:latin typeface="Proxima Nova" panose="020B0604020202020204" charset="0"/>
              </a:rPr>
              <a:t>=0</a:t>
            </a:r>
            <a:r>
              <a:rPr lang="en-US" sz="3000" dirty="0" smtClean="0">
                <a:latin typeface="Proxima Nova" panose="020B0604020202020204" charset="0"/>
              </a:rPr>
              <a:t>,</a:t>
            </a:r>
            <a:r>
              <a:rPr lang="ru-RU" sz="3000" dirty="0" smtClean="0">
                <a:latin typeface="Proxima Nova" panose="020B0604020202020204" charset="0"/>
              </a:rPr>
              <a:t>9487 </a:t>
            </a:r>
            <a:r>
              <a:rPr lang="ru-RU" sz="3000" dirty="0">
                <a:latin typeface="Proxima Nova" panose="020B0604020202020204" charset="0"/>
              </a:rPr>
              <a:t>на тесте </a:t>
            </a:r>
            <a:r>
              <a:rPr lang="ru-RU" sz="3000" dirty="0" smtClean="0">
                <a:latin typeface="Proxima Nova" panose="020B0604020202020204" charset="0"/>
              </a:rPr>
              <a:t>говорит </a:t>
            </a:r>
            <a:r>
              <a:rPr lang="ru-RU" sz="3000" dirty="0">
                <a:latin typeface="Proxima Nova" panose="020B0604020202020204" charset="0"/>
              </a:rPr>
              <a:t>о том, что разделяющая способность модели сохранилась, </a:t>
            </a:r>
            <a:r>
              <a:rPr lang="ru-RU" sz="3000" dirty="0" smtClean="0">
                <a:latin typeface="Proxima Nova" panose="020B0604020202020204" charset="0"/>
              </a:rPr>
              <a:t>но требуется подбор порога при обособленных условиях.</a:t>
            </a:r>
            <a: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/>
            </a:r>
            <a:br>
              <a:rPr lang="ru" sz="3000" dirty="0" smtClean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Результаты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DenseNet121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01865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89790"/>
            <a:ext cx="17303013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lvl="0">
              <a:buClr>
                <a:srgbClr val="4BD0A0"/>
              </a:buClr>
              <a:buSzPts val="3000"/>
            </a:pP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Grad-Cam ResNet18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50" y="2202931"/>
            <a:ext cx="17583044" cy="627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5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289790"/>
            <a:ext cx="17303013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lvl="0">
              <a:buClr>
                <a:srgbClr val="4BD0A0"/>
              </a:buClr>
              <a:buSzPts val="3000"/>
            </a:pP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Grad-Cam ResNet50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2" y="1962300"/>
            <a:ext cx="17636687" cy="616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3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0" y="2289790"/>
            <a:ext cx="18570440" cy="663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lvl="0">
              <a:buClr>
                <a:srgbClr val="4BD0A0"/>
              </a:buClr>
              <a:buSzPts val="3000"/>
            </a:pPr>
            <a:endParaRPr sz="3000" dirty="0">
              <a:solidFill>
                <a:srgbClr val="4BD0A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Grad-CamDenseNet121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5" y="1962300"/>
            <a:ext cx="17539930" cy="617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3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6911764" y="3938493"/>
            <a:ext cx="5688000" cy="5688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600" b="1" dirty="0" smtClean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9600" b="1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12599764" y="3938493"/>
            <a:ext cx="5688000" cy="56880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551850" y="489600"/>
            <a:ext cx="14292000" cy="181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sz="9600" b="1" dirty="0">
                <a:latin typeface="Proxima Nova"/>
                <a:ea typeface="Proxima Nova"/>
                <a:cs typeface="Proxima Nova"/>
                <a:sym typeface="Proxima Nova"/>
              </a:rPr>
              <a:t>Сравнение архитектур и выводы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2111;p108"/>
          <p:cNvSpPr/>
          <p:nvPr/>
        </p:nvSpPr>
        <p:spPr>
          <a:xfrm>
            <a:off x="14529937" y="5702414"/>
            <a:ext cx="2042057" cy="204205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34250" tIns="34250" rIns="34250" bIns="342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590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098721"/>
            <a:ext cx="8664721" cy="6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ResNet18 обеспечивает наилучшее соотношение между чувствительностью и специфичностью: FP = 92 — минимальный показатель ложных </a:t>
            </a:r>
            <a:r>
              <a:rPr lang="ru-RU" sz="3000" dirty="0" smtClean="0">
                <a:latin typeface="Proxima Nova" panose="020B0604020202020204" charset="0"/>
              </a:rPr>
              <a:t>тревог.</a:t>
            </a: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ResNet50 продемонстрировала наивысший </a:t>
            </a:r>
            <a:r>
              <a:rPr lang="en-US" sz="3000" dirty="0" err="1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= 0.9949 и минимальное FN = </a:t>
            </a:r>
            <a:r>
              <a:rPr lang="ru-RU" sz="3000" dirty="0" smtClean="0">
                <a:latin typeface="Proxima Nova" panose="020B0604020202020204" charset="0"/>
              </a:rPr>
              <a:t>2</a:t>
            </a:r>
            <a:r>
              <a:rPr lang="en-US" sz="3000" dirty="0" smtClean="0">
                <a:latin typeface="Proxima Nova" panose="020B0604020202020204" charset="0"/>
              </a:rPr>
              <a:t>.</a:t>
            </a:r>
            <a:endParaRPr lang="ru-RU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endParaRPr lang="en-US" sz="3000" dirty="0" smtClean="0">
              <a:latin typeface="Proxima Nova" panose="020B0604020202020204" charset="0"/>
            </a:endParaRPr>
          </a:p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>
                <a:latin typeface="Proxima Nova" panose="020B0604020202020204" charset="0"/>
              </a:rPr>
              <a:t>DenseNet121 при пороге 0.985 также достигла </a:t>
            </a:r>
            <a:r>
              <a:rPr lang="en-US" sz="3000" dirty="0" err="1">
                <a:latin typeface="Proxima Nova" panose="020B0604020202020204" charset="0"/>
              </a:rPr>
              <a:t>r</a:t>
            </a:r>
            <a:r>
              <a:rPr lang="ru-RU" sz="3000" dirty="0" err="1" smtClean="0">
                <a:latin typeface="Proxima Nova" panose="020B0604020202020204" charset="0"/>
              </a:rPr>
              <a:t>ecall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= 0.9949 и FN = </a:t>
            </a:r>
            <a:r>
              <a:rPr lang="ru-RU" sz="3000" dirty="0" smtClean="0">
                <a:latin typeface="Proxima Nova" panose="020B0604020202020204" charset="0"/>
              </a:rPr>
              <a:t>2</a:t>
            </a:r>
            <a:r>
              <a:rPr lang="ru-RU" sz="3000" dirty="0">
                <a:latin typeface="Proxima Nova" panose="020B0604020202020204" charset="0"/>
              </a:rPr>
              <a:t>, но имеет признаки </a:t>
            </a:r>
            <a:r>
              <a:rPr lang="ru-RU" sz="3000" dirty="0" smtClean="0">
                <a:latin typeface="Proxima Nova" panose="020B0604020202020204" charset="0"/>
              </a:rPr>
              <a:t>переобучения (на </a:t>
            </a:r>
            <a:r>
              <a:rPr lang="ru-RU" sz="3000" dirty="0" err="1" smtClean="0">
                <a:latin typeface="Proxima Nova" panose="020B0604020202020204" charset="0"/>
              </a:rPr>
              <a:t>которе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указывает высокий порог классификации 0,985 и большая разница между val_loss-0,0124 и test_loss-1,5383)</a:t>
            </a:r>
            <a:r>
              <a:rPr lang="ru-RU" sz="3000" dirty="0" smtClean="0">
                <a:latin typeface="Proxima Nova" panose="020B0604020202020204" charset="0"/>
              </a:rPr>
              <a:t>, но </a:t>
            </a:r>
            <a:r>
              <a:rPr lang="ru-RU" sz="3000" dirty="0">
                <a:latin typeface="Proxima Nova" panose="020B0604020202020204" charset="0"/>
              </a:rPr>
              <a:t>показала наибольшую точность среди трёх моделей: </a:t>
            </a:r>
            <a:r>
              <a:rPr lang="en-US" sz="3000" dirty="0" err="1">
                <a:latin typeface="Proxima Nova" panose="020B0604020202020204" charset="0"/>
              </a:rPr>
              <a:t>p</a:t>
            </a:r>
            <a:r>
              <a:rPr lang="ru-RU" sz="3000" dirty="0" err="1" smtClean="0">
                <a:latin typeface="Proxima Nova" panose="020B0604020202020204" charset="0"/>
              </a:rPr>
              <a:t>recision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ru-RU" sz="3000" dirty="0">
                <a:latin typeface="Proxima Nova" panose="020B0604020202020204" charset="0"/>
              </a:rPr>
              <a:t>= 0.8134, F1 = 0.8950, FP = 89.</a:t>
            </a:r>
            <a:r>
              <a:rPr lang="ru-RU" dirty="0"/>
              <a:t> </a:t>
            </a:r>
            <a:endParaRPr sz="3000" dirty="0">
              <a:solidFill>
                <a:srgbClr val="4BD0A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Сравнение метрик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440" y="1962300"/>
            <a:ext cx="7980320" cy="510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0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D0A0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6911764" y="3938493"/>
            <a:ext cx="5688000" cy="5688000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 smtClean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9600" b="1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12599764" y="3938493"/>
            <a:ext cx="5688000" cy="56880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7" name="Google Shape;1047;p63"/>
          <p:cNvSpPr txBox="1"/>
          <p:nvPr/>
        </p:nvSpPr>
        <p:spPr>
          <a:xfrm>
            <a:off x="551850" y="489600"/>
            <a:ext cx="14292000" cy="1818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sz="9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Дообучение</a:t>
            </a:r>
            <a:r>
              <a:rPr lang="ru-RU" sz="9600" b="1" dirty="0" smtClean="0">
                <a:latin typeface="Proxima Nova"/>
                <a:ea typeface="Proxima Nova"/>
                <a:cs typeface="Proxima Nova"/>
                <a:sym typeface="Proxima Nova"/>
              </a:rPr>
              <a:t> моделей</a:t>
            </a:r>
            <a:endParaRPr lang="ru-RU" sz="96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2111;p108"/>
          <p:cNvSpPr/>
          <p:nvPr/>
        </p:nvSpPr>
        <p:spPr>
          <a:xfrm>
            <a:off x="14529937" y="5702414"/>
            <a:ext cx="2042057" cy="204205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34250" tIns="34250" rIns="34250" bIns="342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ill Sans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98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1" y="2098721"/>
            <a:ext cx="6546782" cy="382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 panose="020B0604020202020204" charset="0"/>
              </a:rPr>
              <a:t>Подобраны следующие </a:t>
            </a:r>
            <a:r>
              <a:rPr lang="ru-RU" sz="3000" dirty="0" err="1" smtClean="0">
                <a:latin typeface="Proxima Nova" panose="020B0604020202020204" charset="0"/>
              </a:rPr>
              <a:t>гиперпараметры</a:t>
            </a:r>
            <a:r>
              <a:rPr lang="ru-RU" sz="3000" dirty="0">
                <a:latin typeface="Proxima Nova" panose="020B0604020202020204" charset="0"/>
              </a:rPr>
              <a:t> </a:t>
            </a:r>
            <a:r>
              <a:rPr lang="ru-RU" sz="3000" dirty="0" smtClean="0">
                <a:latin typeface="Proxima Nova" panose="020B0604020202020204" charset="0"/>
              </a:rPr>
              <a:t>с помощью </a:t>
            </a:r>
            <a:r>
              <a:rPr lang="en-US" sz="3000" dirty="0" smtClean="0">
                <a:latin typeface="Proxima Nova" panose="020B0604020202020204" charset="0"/>
              </a:rPr>
              <a:t>random search:</a:t>
            </a:r>
            <a:endParaRPr sz="3000" dirty="0">
              <a:solidFill>
                <a:srgbClr val="4BD0A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Модель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ResNet50 </a:t>
            </a: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с подбором </a:t>
            </a:r>
            <a:r>
              <a:rPr lang="ru-RU" sz="5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гиперпараметров</a:t>
            </a: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 с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random search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700" y="2098721"/>
            <a:ext cx="10206864" cy="382955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53" y="7286912"/>
            <a:ext cx="17785411" cy="78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4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098721"/>
            <a:ext cx="11551917" cy="437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r>
              <a:rPr lang="ru-RU" sz="3000" dirty="0" smtClean="0">
                <a:latin typeface="Proxima Nova" panose="020B0604020202020204" charset="0"/>
              </a:rPr>
              <a:t>Модель </a:t>
            </a:r>
            <a:r>
              <a:rPr lang="ru-RU" sz="3000" dirty="0">
                <a:latin typeface="Proxima Nova" panose="020B0604020202020204" charset="0"/>
              </a:rPr>
              <a:t>имеет признаки </a:t>
            </a:r>
            <a:r>
              <a:rPr lang="ru-RU" sz="3000" dirty="0" smtClean="0">
                <a:latin typeface="Proxima Nova" panose="020B0604020202020204" charset="0"/>
              </a:rPr>
              <a:t>переобучения - резкий </a:t>
            </a:r>
            <a:r>
              <a:rPr lang="ru-RU" sz="3000" dirty="0">
                <a:latin typeface="Proxima Nova" panose="020B0604020202020204" charset="0"/>
              </a:rPr>
              <a:t>скачок </a:t>
            </a:r>
            <a:r>
              <a:rPr lang="ru-RU" sz="3000" dirty="0" err="1">
                <a:latin typeface="Proxima Nova" panose="020B0604020202020204" charset="0"/>
              </a:rPr>
              <a:t>test_loss</a:t>
            </a:r>
            <a:r>
              <a:rPr lang="ru-RU" sz="3000" dirty="0">
                <a:latin typeface="Proxima Nova" panose="020B0604020202020204" charset="0"/>
              </a:rPr>
              <a:t> до 0,8854 по сравнению с </a:t>
            </a:r>
            <a:r>
              <a:rPr lang="ru-RU" sz="3000" dirty="0" err="1" smtClean="0">
                <a:latin typeface="Proxima Nova" panose="020B0604020202020204" charset="0"/>
              </a:rPr>
              <a:t>val_test</a:t>
            </a:r>
            <a:r>
              <a:rPr lang="ru-RU" sz="3000" dirty="0" smtClean="0">
                <a:latin typeface="Proxima Nova" panose="020B0604020202020204" charset="0"/>
              </a:rPr>
              <a:t>. Разделяет классы хорошо </a:t>
            </a:r>
            <a:r>
              <a:rPr lang="en-US" sz="3000" dirty="0" err="1" smtClean="0">
                <a:latin typeface="Proxima Nova" panose="020B0604020202020204" charset="0"/>
              </a:rPr>
              <a:t>test_auc</a:t>
            </a:r>
            <a:r>
              <a:rPr lang="en-US" sz="3000" dirty="0" smtClean="0">
                <a:latin typeface="Proxima Nova" panose="020B0604020202020204" charset="0"/>
              </a:rPr>
              <a:t> = 0,9493. recall </a:t>
            </a:r>
            <a:r>
              <a:rPr lang="ru-RU" sz="3000" dirty="0" smtClean="0">
                <a:latin typeface="Proxima Nova" panose="020B0604020202020204" charset="0"/>
              </a:rPr>
              <a:t>почти иде</a:t>
            </a:r>
            <a:r>
              <a:rPr lang="ru-RU" sz="3000" dirty="0">
                <a:latin typeface="Proxima Nova" panose="020B0604020202020204" charset="0"/>
              </a:rPr>
              <a:t>а</a:t>
            </a:r>
            <a:r>
              <a:rPr lang="ru-RU" sz="3000" dirty="0" smtClean="0">
                <a:latin typeface="Proxima Nova" panose="020B0604020202020204" charset="0"/>
              </a:rPr>
              <a:t>льный </a:t>
            </a:r>
            <a:r>
              <a:rPr lang="en-US" sz="3000" dirty="0" smtClean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 найдены почти все пневмонии. </a:t>
            </a:r>
            <a:r>
              <a:rPr lang="en-US" sz="3000" dirty="0" smtClean="0">
                <a:latin typeface="Proxima Nova" panose="020B0604020202020204" charset="0"/>
              </a:rPr>
              <a:t>Precision </a:t>
            </a:r>
            <a:r>
              <a:rPr lang="ru-RU" sz="3000" dirty="0" smtClean="0">
                <a:latin typeface="Proxima Nova" panose="020B0604020202020204" charset="0"/>
              </a:rPr>
              <a:t>(0,7923) </a:t>
            </a:r>
            <a:r>
              <a:rPr lang="en-US" sz="3000" dirty="0" smtClean="0">
                <a:latin typeface="Proxima Nova" panose="020B0604020202020204" charset="0"/>
              </a:rPr>
              <a:t>-</a:t>
            </a:r>
            <a:r>
              <a:rPr lang="ru-RU" sz="3000" dirty="0" smtClean="0">
                <a:latin typeface="Proxima Nova" panose="020B0604020202020204" charset="0"/>
              </a:rPr>
              <a:t> </a:t>
            </a:r>
            <a:r>
              <a:rPr lang="en-US" sz="3000" dirty="0" smtClean="0">
                <a:latin typeface="Proxima Nova" panose="020B0604020202020204" charset="0"/>
              </a:rPr>
              <a:t>20% </a:t>
            </a:r>
            <a:r>
              <a:rPr lang="ru-RU" sz="3000" dirty="0" smtClean="0">
                <a:latin typeface="Proxima Nova" panose="020B0604020202020204" charset="0"/>
              </a:rPr>
              <a:t> ложных тревог.</a:t>
            </a:r>
            <a:endParaRPr lang="en-US" sz="3000" dirty="0" smtClean="0">
              <a:latin typeface="Proxima Nova" panose="020B0604020202020204" charset="0"/>
            </a:endParaRPr>
          </a:p>
          <a:p>
            <a:endParaRPr lang="ru-RU" sz="3000" dirty="0" smtClean="0">
              <a:latin typeface="Proxima Nova" panose="020B0604020202020204" charset="0"/>
            </a:endParaRPr>
          </a:p>
          <a:p>
            <a:r>
              <a:rPr lang="ru-RU" sz="3000" dirty="0">
                <a:latin typeface="Proxima Nova" panose="020B0604020202020204" charset="0"/>
              </a:rPr>
              <a:t>TN = 132 </a:t>
            </a:r>
            <a:endParaRPr lang="en-US" sz="3000" dirty="0" smtClean="0">
              <a:latin typeface="Proxima Nova" panose="020B0604020202020204" charset="0"/>
            </a:endParaRPr>
          </a:p>
          <a:p>
            <a:r>
              <a:rPr lang="ru-RU" sz="3000" dirty="0" smtClean="0">
                <a:latin typeface="Proxima Nova" panose="020B0604020202020204" charset="0"/>
              </a:rPr>
              <a:t>FP </a:t>
            </a:r>
            <a:r>
              <a:rPr lang="ru-RU" sz="3000" dirty="0">
                <a:latin typeface="Proxima Nova" panose="020B0604020202020204" charset="0"/>
              </a:rPr>
              <a:t>= </a:t>
            </a:r>
            <a:r>
              <a:rPr lang="ru-RU" sz="3000" dirty="0" smtClean="0">
                <a:latin typeface="Proxima Nova" panose="020B0604020202020204" charset="0"/>
              </a:rPr>
              <a:t>102</a:t>
            </a:r>
            <a:endParaRPr lang="en-US" sz="3000" dirty="0" smtClean="0">
              <a:latin typeface="Proxima Nova" panose="020B0604020202020204" charset="0"/>
            </a:endParaRPr>
          </a:p>
          <a:p>
            <a:r>
              <a:rPr lang="ru-RU" sz="3000" dirty="0" smtClean="0">
                <a:latin typeface="Proxima Nova" panose="020B0604020202020204" charset="0"/>
              </a:rPr>
              <a:t>FN </a:t>
            </a:r>
            <a:r>
              <a:rPr lang="ru-RU" sz="3000" dirty="0">
                <a:latin typeface="Proxima Nova" panose="020B0604020202020204" charset="0"/>
              </a:rPr>
              <a:t>= 1 </a:t>
            </a:r>
            <a:endParaRPr lang="en-US" sz="3000" dirty="0" smtClean="0">
              <a:latin typeface="Proxima Nova" panose="020B0604020202020204" charset="0"/>
            </a:endParaRPr>
          </a:p>
          <a:p>
            <a:r>
              <a:rPr lang="ru-RU" sz="3000" dirty="0" smtClean="0">
                <a:latin typeface="Proxima Nova" panose="020B0604020202020204" charset="0"/>
              </a:rPr>
              <a:t>TP = 389</a:t>
            </a:r>
          </a:p>
          <a:p>
            <a:endParaRPr lang="ru-RU" sz="3000" dirty="0">
              <a:solidFill>
                <a:schemeClr val="tx1"/>
              </a:solidFill>
              <a:latin typeface="Proxima Nova" panose="020B0604020202020204" charset="0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Обучение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ResNet50_rs </a:t>
            </a: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с подобранными </a:t>
            </a:r>
            <a:r>
              <a:rPr lang="ru-RU" sz="5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гиперпараметрами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48339" b="56529"/>
          <a:stretch/>
        </p:blipFill>
        <p:spPr>
          <a:xfrm>
            <a:off x="10299031" y="4013497"/>
            <a:ext cx="5045026" cy="5422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l="68599" t="12168"/>
          <a:stretch/>
        </p:blipFill>
        <p:spPr>
          <a:xfrm>
            <a:off x="10299031" y="4552036"/>
            <a:ext cx="3475485" cy="74595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031" y="5282712"/>
            <a:ext cx="7296924" cy="359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3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0" y="2098721"/>
            <a:ext cx="11551917" cy="759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r>
              <a:rPr lang="ru-RU" sz="3000" dirty="0">
                <a:latin typeface="Proxima Nova" panose="020B0604020202020204" charset="0"/>
              </a:rPr>
              <a:t>Подбор порога с </a:t>
            </a:r>
            <a:r>
              <a:rPr lang="ru-RU" sz="3000" dirty="0" smtClean="0">
                <a:latin typeface="Proxima Nova" panose="020B0604020202020204" charset="0"/>
              </a:rPr>
              <a:t>0,5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0,7975 </a:t>
            </a:r>
            <a:r>
              <a:rPr lang="ru-RU" sz="3000" dirty="0">
                <a:latin typeface="Proxima Nova" panose="020B0604020202020204" charset="0"/>
              </a:rPr>
              <a:t>улучшил рез-ты:</a:t>
            </a:r>
          </a:p>
          <a:p>
            <a:r>
              <a:rPr lang="ru-RU" sz="3000" dirty="0">
                <a:latin typeface="Proxima Nova" panose="020B0604020202020204" charset="0"/>
              </a:rPr>
              <a:t/>
            </a:r>
            <a:br>
              <a:rPr lang="ru-RU" sz="3000" dirty="0">
                <a:latin typeface="Proxima Nova" panose="020B0604020202020204" charset="0"/>
              </a:rPr>
            </a:br>
            <a:r>
              <a:rPr lang="ru-RU" sz="3000" dirty="0" err="1">
                <a:latin typeface="Proxima Nova" panose="020B0604020202020204" charset="0"/>
              </a:rPr>
              <a:t>recall</a:t>
            </a:r>
            <a:r>
              <a:rPr lang="ru-RU" sz="3000" dirty="0">
                <a:latin typeface="Proxima Nova" panose="020B0604020202020204" charset="0"/>
              </a:rPr>
              <a:t> незначительно снизился с </a:t>
            </a:r>
            <a:r>
              <a:rPr lang="ru-RU" sz="3000" dirty="0" smtClean="0">
                <a:latin typeface="Proxima Nova" panose="020B0604020202020204" charset="0"/>
              </a:rPr>
              <a:t>0,9974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0,9949</a:t>
            </a:r>
            <a:r>
              <a:rPr lang="ru-RU" sz="3000" dirty="0">
                <a:latin typeface="Proxima Nova" panose="020B0604020202020204" charset="0"/>
              </a:rPr>
              <a:t>, но остался выше заданного 0.97 </a:t>
            </a:r>
          </a:p>
          <a:p>
            <a:r>
              <a:rPr lang="ru-RU" sz="3000" dirty="0">
                <a:latin typeface="Proxima Nova" panose="020B0604020202020204" charset="0"/>
              </a:rPr>
              <a:t/>
            </a:r>
            <a:br>
              <a:rPr lang="ru-RU" sz="3000" dirty="0">
                <a:latin typeface="Proxima Nova" panose="020B0604020202020204" charset="0"/>
              </a:rPr>
            </a:br>
            <a:r>
              <a:rPr lang="ru-RU" sz="3000" dirty="0">
                <a:latin typeface="Proxima Nova" panose="020B0604020202020204" charset="0"/>
              </a:rPr>
              <a:t>FN = 2 - пропущено всего 2 пневмонии</a:t>
            </a:r>
          </a:p>
          <a:p>
            <a:r>
              <a:rPr lang="ru-RU" sz="3000" dirty="0">
                <a:latin typeface="Proxima Nova" panose="020B0604020202020204" charset="0"/>
              </a:rPr>
              <a:t/>
            </a:r>
            <a:br>
              <a:rPr lang="ru-RU" sz="3000" dirty="0">
                <a:latin typeface="Proxima Nova" panose="020B0604020202020204" charset="0"/>
              </a:rPr>
            </a:br>
            <a:r>
              <a:rPr lang="ru-RU" sz="3000" dirty="0">
                <a:latin typeface="Proxima Nova" panose="020B0604020202020204" charset="0"/>
              </a:rPr>
              <a:t>FP снизился с 102 до 87 - меньше ложных ошибок</a:t>
            </a:r>
          </a:p>
          <a:p>
            <a:r>
              <a:rPr lang="ru-RU" sz="3000" dirty="0">
                <a:latin typeface="Proxima Nova" panose="020B0604020202020204" charset="0"/>
              </a:rPr>
              <a:t/>
            </a:r>
            <a:br>
              <a:rPr lang="ru-RU" sz="3000" dirty="0">
                <a:latin typeface="Proxima Nova" panose="020B0604020202020204" charset="0"/>
              </a:rPr>
            </a:br>
            <a:r>
              <a:rPr lang="ru-RU" sz="3000" dirty="0">
                <a:latin typeface="Proxima Nova" panose="020B0604020202020204" charset="0"/>
              </a:rPr>
              <a:t>F1 вырос с </a:t>
            </a:r>
            <a:r>
              <a:rPr lang="ru-RU" sz="3000" dirty="0" smtClean="0">
                <a:latin typeface="Proxima Nova" panose="020B0604020202020204" charset="0"/>
              </a:rPr>
              <a:t>0,8831 </a:t>
            </a:r>
            <a:r>
              <a:rPr lang="ru-RU" sz="3000" dirty="0">
                <a:latin typeface="Proxima Nova" panose="020B0604020202020204" charset="0"/>
              </a:rPr>
              <a:t>до </a:t>
            </a:r>
            <a:r>
              <a:rPr lang="ru-RU" sz="3000" dirty="0" smtClean="0">
                <a:latin typeface="Proxima Nova" panose="020B0604020202020204" charset="0"/>
              </a:rPr>
              <a:t>0,8971 </a:t>
            </a:r>
            <a:r>
              <a:rPr lang="ru-RU" sz="3000" dirty="0">
                <a:latin typeface="Proxima Nova" panose="020B0604020202020204" charset="0"/>
              </a:rPr>
              <a:t>- качество модели улучшилось </a:t>
            </a:r>
          </a:p>
          <a:p>
            <a:r>
              <a:rPr lang="ru-RU" sz="3000" dirty="0">
                <a:latin typeface="Proxima Nova" panose="020B0604020202020204" charset="0"/>
              </a:rPr>
              <a:t/>
            </a:r>
            <a:br>
              <a:rPr lang="ru-RU" sz="3000" dirty="0">
                <a:latin typeface="Proxima Nova" panose="020B0604020202020204" charset="0"/>
              </a:rPr>
            </a:br>
            <a:r>
              <a:rPr lang="ru-RU" sz="3000" dirty="0">
                <a:latin typeface="Proxima Nova" panose="020B0604020202020204" charset="0"/>
              </a:rPr>
              <a:t>AUC = </a:t>
            </a:r>
            <a:r>
              <a:rPr lang="ru-RU" sz="3000" dirty="0" smtClean="0">
                <a:latin typeface="Proxima Nova" panose="020B0604020202020204" charset="0"/>
              </a:rPr>
              <a:t>0,9493 </a:t>
            </a:r>
            <a:endParaRPr lang="ru-RU" sz="3000" dirty="0">
              <a:latin typeface="Proxima Nova" panose="020B0604020202020204" charset="0"/>
            </a:endParaRPr>
          </a:p>
          <a:p>
            <a:r>
              <a:rPr lang="ru-RU" sz="3000" dirty="0">
                <a:latin typeface="Proxima Nova" panose="020B0604020202020204" charset="0"/>
              </a:rPr>
              <a:t/>
            </a:r>
            <a:br>
              <a:rPr lang="ru-RU" sz="3000" dirty="0">
                <a:latin typeface="Proxima Nova" panose="020B0604020202020204" charset="0"/>
              </a:rPr>
            </a:br>
            <a:r>
              <a:rPr lang="ru-RU" sz="3000" dirty="0">
                <a:latin typeface="Proxima Nova" panose="020B0604020202020204" charset="0"/>
              </a:rPr>
              <a:t>Итог: подбор порога сохранил высокий </a:t>
            </a:r>
            <a:r>
              <a:rPr lang="ru-RU" sz="3000" dirty="0" err="1">
                <a:latin typeface="Proxima Nova" panose="020B0604020202020204" charset="0"/>
              </a:rPr>
              <a:t>recall</a:t>
            </a:r>
            <a:r>
              <a:rPr lang="ru-RU" sz="3000" dirty="0">
                <a:latin typeface="Proxima Nova" panose="020B0604020202020204" charset="0"/>
              </a:rPr>
              <a:t>, </a:t>
            </a:r>
            <a:r>
              <a:rPr lang="ru-RU" sz="3000" dirty="0" smtClean="0">
                <a:latin typeface="Proxima Nova" panose="020B0604020202020204" charset="0"/>
              </a:rPr>
              <a:t>уменьшил </a:t>
            </a:r>
            <a:r>
              <a:rPr lang="ru-RU" sz="3000" dirty="0">
                <a:latin typeface="Proxima Nova" panose="020B0604020202020204" charset="0"/>
              </a:rPr>
              <a:t>кол-во ложных тревог FP - хороший результатом для такой задачи</a:t>
            </a:r>
          </a:p>
          <a:p>
            <a:endParaRPr lang="ru-RU" sz="3000" dirty="0">
              <a:solidFill>
                <a:schemeClr val="tx1"/>
              </a:solidFill>
              <a:latin typeface="Proxima Nova" panose="020B0604020202020204" charset="0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Подбор порога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 ResNet50_rs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3767" y="4061159"/>
            <a:ext cx="5322895" cy="421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1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4"/>
          <p:cNvSpPr txBox="1"/>
          <p:nvPr/>
        </p:nvSpPr>
        <p:spPr>
          <a:xfrm>
            <a:off x="551851" y="2098721"/>
            <a:ext cx="6546782" cy="382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/>
          <a:p>
            <a:pPr marL="450000" lvl="0" indent="-460500">
              <a:buClr>
                <a:srgbClr val="4BD0A0"/>
              </a:buClr>
              <a:buSzPts val="3000"/>
              <a:buFont typeface="Proxima Nova"/>
              <a:buChar char="●"/>
            </a:pPr>
            <a:r>
              <a:rPr lang="ru-RU" sz="3000" dirty="0" smtClean="0">
                <a:latin typeface="Proxima Nova" panose="020B0604020202020204" charset="0"/>
              </a:rPr>
              <a:t>Так же, в данный момент проводится улучшение модели </a:t>
            </a:r>
            <a:r>
              <a:rPr lang="en-US" sz="3000" dirty="0" smtClean="0">
                <a:latin typeface="Proxima Nova" panose="020B0604020202020204" charset="0"/>
              </a:rPr>
              <a:t>DenseNet121 </a:t>
            </a:r>
            <a:r>
              <a:rPr lang="ru-RU" sz="3000" dirty="0" smtClean="0">
                <a:latin typeface="Proxima Nova" panose="020B0604020202020204" charset="0"/>
              </a:rPr>
              <a:t>при тех же подборах </a:t>
            </a:r>
            <a:r>
              <a:rPr lang="ru-RU" sz="3000" dirty="0" err="1" smtClean="0">
                <a:latin typeface="Proxima Nova" panose="020B0604020202020204" charset="0"/>
              </a:rPr>
              <a:t>гиперпараметров</a:t>
            </a:r>
            <a:r>
              <a:rPr lang="ru-RU" sz="3000" dirty="0" smtClean="0">
                <a:latin typeface="Proxima Nova" panose="020B0604020202020204" charset="0"/>
              </a:rPr>
              <a:t>.</a:t>
            </a:r>
            <a:endParaRPr sz="3000" dirty="0">
              <a:solidFill>
                <a:srgbClr val="4BD0A0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4" name="Google Shape;1134;p74"/>
          <p:cNvSpPr txBox="1"/>
          <p:nvPr/>
        </p:nvSpPr>
        <p:spPr>
          <a:xfrm>
            <a:off x="551850" y="489600"/>
            <a:ext cx="14291700" cy="14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Модель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DenseNet121 </a:t>
            </a: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с подбором </a:t>
            </a:r>
            <a:r>
              <a:rPr lang="ru-RU" sz="5600" b="1" dirty="0" err="1" smtClean="0">
                <a:latin typeface="Proxima Nova"/>
                <a:ea typeface="Proxima Nova"/>
                <a:cs typeface="Proxima Nova"/>
                <a:sym typeface="Proxima Nova"/>
              </a:rPr>
              <a:t>гиперпараметров</a:t>
            </a:r>
            <a:r>
              <a:rPr lang="ru-RU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 с </a:t>
            </a:r>
            <a:r>
              <a:rPr lang="en-US" sz="5600" b="1" dirty="0" smtClean="0">
                <a:latin typeface="Proxima Nova"/>
                <a:ea typeface="Proxima Nova"/>
                <a:cs typeface="Proxima Nova"/>
                <a:sym typeface="Proxima Nova"/>
              </a:rPr>
              <a:t>random search</a:t>
            </a:r>
            <a:endParaRPr sz="5600" b="1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700" y="2098721"/>
            <a:ext cx="10206864" cy="382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8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999999"/>
      </a:accent5>
      <a:accent6>
        <a:srgbClr val="FFFFFF"/>
      </a:accent6>
      <a:hlink>
        <a:srgbClr val="4BD0A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1377</Words>
  <Application>Microsoft Office PowerPoint</Application>
  <PresentationFormat>Произвольный</PresentationFormat>
  <Paragraphs>207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Gill Sans</vt:lpstr>
      <vt:lpstr>Arial</vt:lpstr>
      <vt:lpstr>Proxima Nova Semibold</vt:lpstr>
      <vt:lpstr>Cambria Math</vt:lpstr>
      <vt:lpstr>Times New Roman</vt:lpstr>
      <vt:lpstr>Proxima Nova</vt:lpstr>
      <vt:lpstr>White Green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User</cp:lastModifiedBy>
  <cp:revision>150</cp:revision>
  <dcterms:modified xsi:type="dcterms:W3CDTF">2026-03-24T13:15:41Z</dcterms:modified>
</cp:coreProperties>
</file>